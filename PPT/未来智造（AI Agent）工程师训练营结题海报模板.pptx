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阿里巴巴普惠体 Medium" panose="02010600030101010101" charset="-122"/>
      <p:regular r:id="rId3"/>
    </p:embeddedFont>
    <p:embeddedFont>
      <p:font typeface="黑体" panose="02010609060101010101" pitchFamily="49" charset="-122"/>
      <p:regular r:id="rId4"/>
    </p:embeddedFont>
    <p:embeddedFont>
      <p:font typeface="字由点字典黑 1 Bold" panose="02010600030101010101" charset="-122"/>
      <p:regular r:id="rId5"/>
    </p:embeddedFont>
    <p:embeddedFont>
      <p:font typeface="字由点字典黑 2 Bold" panose="02010600030101010101" charset="-122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72" y="-768"/>
      </p:cViewPr>
      <p:guideLst>
        <p:guide orient="horz" pos="2190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0684" y="20496454"/>
            <a:ext cx="14398631" cy="615197"/>
            <a:chOff x="0" y="0"/>
            <a:chExt cx="2580072" cy="1102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072" cy="110236"/>
            </a:xfrm>
            <a:custGeom>
              <a:avLst/>
              <a:gdLst/>
              <a:ahLst/>
              <a:cxnLst/>
              <a:rect l="l" t="t" r="r" b="b"/>
              <a:pathLst>
                <a:path w="2580072" h="110236">
                  <a:moveTo>
                    <a:pt x="0" y="0"/>
                  </a:moveTo>
                  <a:lnTo>
                    <a:pt x="2580072" y="0"/>
                  </a:lnTo>
                  <a:lnTo>
                    <a:pt x="2580072" y="110236"/>
                  </a:lnTo>
                  <a:lnTo>
                    <a:pt x="0" y="110236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580072" cy="205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854" y="5418194"/>
            <a:ext cx="4517474" cy="5731690"/>
            <a:chOff x="0" y="0"/>
            <a:chExt cx="907236" cy="11510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7236" cy="1151085"/>
            </a:xfrm>
            <a:custGeom>
              <a:avLst/>
              <a:gdLst/>
              <a:ahLst/>
              <a:cxnLst/>
              <a:rect l="l" t="t" r="r" b="b"/>
              <a:pathLst>
                <a:path w="907236" h="1151085">
                  <a:moveTo>
                    <a:pt x="0" y="0"/>
                  </a:moveTo>
                  <a:lnTo>
                    <a:pt x="907236" y="0"/>
                  </a:lnTo>
                  <a:lnTo>
                    <a:pt x="907236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907236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86861" y="5402517"/>
            <a:ext cx="4698705" cy="5731690"/>
            <a:chOff x="0" y="0"/>
            <a:chExt cx="943632" cy="1151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3632" cy="1151085"/>
            </a:xfrm>
            <a:custGeom>
              <a:avLst/>
              <a:gdLst/>
              <a:ahLst/>
              <a:cxnLst/>
              <a:rect l="l" t="t" r="r" b="b"/>
              <a:pathLst>
                <a:path w="943632" h="1151085">
                  <a:moveTo>
                    <a:pt x="0" y="0"/>
                  </a:moveTo>
                  <a:lnTo>
                    <a:pt x="943632" y="0"/>
                  </a:lnTo>
                  <a:lnTo>
                    <a:pt x="943632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943632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1750" y="-2490470"/>
            <a:ext cx="15145385" cy="4709160"/>
            <a:chOff x="0" y="0"/>
            <a:chExt cx="3853567" cy="843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53567" cy="843817"/>
            </a:xfrm>
            <a:custGeom>
              <a:avLst/>
              <a:gdLst/>
              <a:ahLst/>
              <a:cxnLst/>
              <a:rect l="l" t="t" r="r" b="b"/>
              <a:pathLst>
                <a:path w="3853567" h="843817">
                  <a:moveTo>
                    <a:pt x="0" y="0"/>
                  </a:moveTo>
                  <a:lnTo>
                    <a:pt x="3853567" y="0"/>
                  </a:lnTo>
                  <a:lnTo>
                    <a:pt x="3853567" y="843817"/>
                  </a:lnTo>
                  <a:lnTo>
                    <a:pt x="0" y="843817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853567" cy="910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31750" y="-4610100"/>
            <a:ext cx="15144115" cy="6828790"/>
          </a:xfrm>
          <a:custGeom>
            <a:avLst/>
            <a:gdLst/>
            <a:ahLst/>
            <a:cxnLst/>
            <a:rect l="l" t="t" r="r" b="b"/>
            <a:pathLst>
              <a:path w="17281491" h="7035199">
                <a:moveTo>
                  <a:pt x="0" y="0"/>
                </a:moveTo>
                <a:lnTo>
                  <a:pt x="17281491" y="0"/>
                </a:lnTo>
                <a:lnTo>
                  <a:pt x="17281491" y="7035199"/>
                </a:lnTo>
                <a:lnTo>
                  <a:pt x="0" y="7035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t="-19087" b="-19087"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981806" y="11372332"/>
            <a:ext cx="4777509" cy="8895522"/>
            <a:chOff x="0" y="0"/>
            <a:chExt cx="959459" cy="17864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9459" cy="1786472"/>
            </a:xfrm>
            <a:custGeom>
              <a:avLst/>
              <a:gdLst/>
              <a:ahLst/>
              <a:cxnLst/>
              <a:rect l="l" t="t" r="r" b="b"/>
              <a:pathLst>
                <a:path w="959459" h="1786472">
                  <a:moveTo>
                    <a:pt x="0" y="0"/>
                  </a:moveTo>
                  <a:lnTo>
                    <a:pt x="959459" y="0"/>
                  </a:lnTo>
                  <a:lnTo>
                    <a:pt x="959459" y="1786472"/>
                  </a:lnTo>
                  <a:lnTo>
                    <a:pt x="0" y="178647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959459" cy="1881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81806" y="11368959"/>
            <a:ext cx="4785288" cy="632625"/>
            <a:chOff x="0" y="0"/>
            <a:chExt cx="961021" cy="1270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1021" cy="127049"/>
            </a:xfrm>
            <a:custGeom>
              <a:avLst/>
              <a:gdLst/>
              <a:ahLst/>
              <a:cxnLst/>
              <a:rect l="l" t="t" r="r" b="b"/>
              <a:pathLst>
                <a:path w="961021" h="127049">
                  <a:moveTo>
                    <a:pt x="0" y="0"/>
                  </a:moveTo>
                  <a:lnTo>
                    <a:pt x="961021" y="0"/>
                  </a:lnTo>
                  <a:lnTo>
                    <a:pt x="961021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961021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0684" y="2753207"/>
            <a:ext cx="14398631" cy="2430235"/>
            <a:chOff x="0" y="0"/>
            <a:chExt cx="2891651" cy="4880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91651" cy="488060"/>
            </a:xfrm>
            <a:custGeom>
              <a:avLst/>
              <a:gdLst/>
              <a:ahLst/>
              <a:cxnLst/>
              <a:rect l="l" t="t" r="r" b="b"/>
              <a:pathLst>
                <a:path w="2891651" h="488060">
                  <a:moveTo>
                    <a:pt x="0" y="0"/>
                  </a:moveTo>
                  <a:lnTo>
                    <a:pt x="2891651" y="0"/>
                  </a:lnTo>
                  <a:lnTo>
                    <a:pt x="2891651" y="488060"/>
                  </a:lnTo>
                  <a:lnTo>
                    <a:pt x="0" y="48806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891651" cy="583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0684" y="2753207"/>
            <a:ext cx="14398631" cy="576539"/>
            <a:chOff x="0" y="0"/>
            <a:chExt cx="2891651" cy="1157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91651" cy="115785"/>
            </a:xfrm>
            <a:custGeom>
              <a:avLst/>
              <a:gdLst/>
              <a:ahLst/>
              <a:cxnLst/>
              <a:rect l="l" t="t" r="r" b="b"/>
              <a:pathLst>
                <a:path w="2891651" h="115785">
                  <a:moveTo>
                    <a:pt x="0" y="0"/>
                  </a:moveTo>
                  <a:lnTo>
                    <a:pt x="2891651" y="0"/>
                  </a:lnTo>
                  <a:lnTo>
                    <a:pt x="2891651" y="115785"/>
                  </a:lnTo>
                  <a:lnTo>
                    <a:pt x="0" y="115785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891651" cy="211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1837" y="5418194"/>
            <a:ext cx="4513509" cy="603360"/>
            <a:chOff x="0" y="0"/>
            <a:chExt cx="906440" cy="121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6440" cy="121172"/>
            </a:xfrm>
            <a:custGeom>
              <a:avLst/>
              <a:gdLst/>
              <a:ahLst/>
              <a:cxnLst/>
              <a:rect l="l" t="t" r="r" b="b"/>
              <a:pathLst>
                <a:path w="906440" h="121172">
                  <a:moveTo>
                    <a:pt x="0" y="0"/>
                  </a:moveTo>
                  <a:lnTo>
                    <a:pt x="906440" y="0"/>
                  </a:lnTo>
                  <a:lnTo>
                    <a:pt x="906440" y="121172"/>
                  </a:lnTo>
                  <a:lnTo>
                    <a:pt x="0" y="121172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906440" cy="216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9854" y="11368959"/>
            <a:ext cx="9458883" cy="8898896"/>
            <a:chOff x="0" y="0"/>
            <a:chExt cx="1899610" cy="17871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99610" cy="1787149"/>
            </a:xfrm>
            <a:custGeom>
              <a:avLst/>
              <a:gdLst/>
              <a:ahLst/>
              <a:cxnLst/>
              <a:rect l="l" t="t" r="r" b="b"/>
              <a:pathLst>
                <a:path w="1899610" h="1787149">
                  <a:moveTo>
                    <a:pt x="0" y="0"/>
                  </a:moveTo>
                  <a:lnTo>
                    <a:pt x="1899610" y="0"/>
                  </a:lnTo>
                  <a:lnTo>
                    <a:pt x="1899610" y="1787149"/>
                  </a:lnTo>
                  <a:lnTo>
                    <a:pt x="0" y="178714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899610" cy="1882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110" y="11916877"/>
            <a:ext cx="5016982" cy="3486733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5086861" y="5402517"/>
            <a:ext cx="4699849" cy="619036"/>
            <a:chOff x="0" y="0"/>
            <a:chExt cx="943862" cy="1243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43862" cy="124320"/>
            </a:xfrm>
            <a:custGeom>
              <a:avLst/>
              <a:gdLst/>
              <a:ahLst/>
              <a:cxnLst/>
              <a:rect l="l" t="t" r="r" b="b"/>
              <a:pathLst>
                <a:path w="943862" h="124320">
                  <a:moveTo>
                    <a:pt x="0" y="0"/>
                  </a:moveTo>
                  <a:lnTo>
                    <a:pt x="943862" y="0"/>
                  </a:lnTo>
                  <a:lnTo>
                    <a:pt x="943862" y="124320"/>
                  </a:lnTo>
                  <a:lnTo>
                    <a:pt x="0" y="124320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943862" cy="21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81806" y="5418194"/>
            <a:ext cx="4777509" cy="5716013"/>
            <a:chOff x="0" y="0"/>
            <a:chExt cx="959459" cy="11479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9459" cy="1147937"/>
            </a:xfrm>
            <a:custGeom>
              <a:avLst/>
              <a:gdLst/>
              <a:ahLst/>
              <a:cxnLst/>
              <a:rect l="l" t="t" r="r" b="b"/>
              <a:pathLst>
                <a:path w="959459" h="1147937">
                  <a:moveTo>
                    <a:pt x="0" y="0"/>
                  </a:moveTo>
                  <a:lnTo>
                    <a:pt x="959459" y="0"/>
                  </a:lnTo>
                  <a:lnTo>
                    <a:pt x="959459" y="1147937"/>
                  </a:lnTo>
                  <a:lnTo>
                    <a:pt x="0" y="114793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959459" cy="1243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0397396" y="5712035"/>
            <a:ext cx="3825759" cy="2229450"/>
          </a:xfrm>
          <a:custGeom>
            <a:avLst/>
            <a:gdLst/>
            <a:ahLst/>
            <a:cxnLst/>
            <a:rect l="l" t="t" r="r" b="b"/>
            <a:pathLst>
              <a:path w="3825759" h="2229450">
                <a:moveTo>
                  <a:pt x="0" y="0"/>
                </a:moveTo>
                <a:lnTo>
                  <a:pt x="3825759" y="0"/>
                </a:lnTo>
                <a:lnTo>
                  <a:pt x="3825759" y="2229450"/>
                </a:lnTo>
                <a:lnTo>
                  <a:pt x="0" y="222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1" t="-707" b="-1644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1"/>
          <p:cNvSpPr/>
          <p:nvPr/>
        </p:nvSpPr>
        <p:spPr>
          <a:xfrm>
            <a:off x="10397396" y="8496401"/>
            <a:ext cx="3825759" cy="2187175"/>
          </a:xfrm>
          <a:custGeom>
            <a:avLst/>
            <a:gdLst/>
            <a:ahLst/>
            <a:cxnLst/>
            <a:rect l="l" t="t" r="r" b="b"/>
            <a:pathLst>
              <a:path w="3825759" h="2187175">
                <a:moveTo>
                  <a:pt x="0" y="0"/>
                </a:moveTo>
                <a:lnTo>
                  <a:pt x="3825759" y="0"/>
                </a:lnTo>
                <a:lnTo>
                  <a:pt x="3825759" y="2187175"/>
                </a:lnTo>
                <a:lnTo>
                  <a:pt x="0" y="218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5158" b="-465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2"/>
          <p:cNvGrpSpPr/>
          <p:nvPr/>
        </p:nvGrpSpPr>
        <p:grpSpPr>
          <a:xfrm>
            <a:off x="359854" y="11368959"/>
            <a:ext cx="9454013" cy="632625"/>
            <a:chOff x="0" y="0"/>
            <a:chExt cx="1898632" cy="12704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98632" cy="127049"/>
            </a:xfrm>
            <a:custGeom>
              <a:avLst/>
              <a:gdLst/>
              <a:ahLst/>
              <a:cxnLst/>
              <a:rect l="l" t="t" r="r" b="b"/>
              <a:pathLst>
                <a:path w="1898632" h="127049">
                  <a:moveTo>
                    <a:pt x="0" y="0"/>
                  </a:moveTo>
                  <a:lnTo>
                    <a:pt x="1898632" y="0"/>
                  </a:lnTo>
                  <a:lnTo>
                    <a:pt x="1898632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898632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2605" y="16242455"/>
            <a:ext cx="362428" cy="362428"/>
            <a:chOff x="0" y="0"/>
            <a:chExt cx="483237" cy="48323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2605" y="17268694"/>
            <a:ext cx="362428" cy="362428"/>
            <a:chOff x="0" y="0"/>
            <a:chExt cx="483237" cy="483237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993336" y="12379626"/>
            <a:ext cx="3847928" cy="2563682"/>
          </a:xfrm>
          <a:custGeom>
            <a:avLst/>
            <a:gdLst/>
            <a:ahLst/>
            <a:cxnLst/>
            <a:rect l="l" t="t" r="r" b="b"/>
            <a:pathLst>
              <a:path w="3847928" h="2563682">
                <a:moveTo>
                  <a:pt x="0" y="0"/>
                </a:moveTo>
                <a:lnTo>
                  <a:pt x="3847928" y="0"/>
                </a:lnTo>
                <a:lnTo>
                  <a:pt x="3847928" y="2563682"/>
                </a:lnTo>
                <a:lnTo>
                  <a:pt x="0" y="2563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56" name="Group 56"/>
          <p:cNvGrpSpPr/>
          <p:nvPr/>
        </p:nvGrpSpPr>
        <p:grpSpPr>
          <a:xfrm>
            <a:off x="752605" y="18482658"/>
            <a:ext cx="362428" cy="362428"/>
            <a:chOff x="0" y="0"/>
            <a:chExt cx="483237" cy="483237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2605" y="19359436"/>
            <a:ext cx="362428" cy="362428"/>
            <a:chOff x="0" y="0"/>
            <a:chExt cx="483237" cy="483237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4355" y="1136633"/>
            <a:ext cx="9433817" cy="934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zh-CN" altLang="en-US" sz="5000" b="1" spc="33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生物医学文献智能分析</a:t>
            </a:r>
            <a:r>
              <a:rPr lang="en-US" altLang="zh-CN" sz="5000" b="1" spc="330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阿里巴巴普惠体 Medium" panose="00020600040101010101" charset="-122"/>
              </a:rPr>
              <a:t>Agent</a:t>
            </a:r>
            <a:r>
              <a:rPr lang="zh-CN" altLang="en-US" sz="5000" b="1" spc="330" dirty="0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 </a:t>
            </a:r>
            <a:endParaRPr lang="en-US" sz="5000" b="1" spc="330" dirty="0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175091" y="17419667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参考文献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175091" y="17897822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列出项目主要参考的论文、技术文档、开源项目、数据集、模型或相关资料。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175091" y="12084189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175091" y="12488049"/>
            <a:ext cx="4410690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概括项目完成情况、主要成果、实践价值与项目亮点。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31469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Github 主页：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5520" y="2789188"/>
            <a:ext cx="5710202" cy="42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项目简介</a:t>
            </a:r>
            <a:r>
              <a:rPr lang="en-US" sz="2295" spc="-34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Bold" panose="00020600040101010101" charset="-122"/>
                <a:sym typeface="字由点字典黑 2 Bold" panose="00020600040101010101" charset="-122"/>
              </a:rPr>
              <a:t> </a:t>
            </a:r>
            <a:r>
              <a:rPr lang="en-US" sz="2295" spc="-34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Bold" panose="00020600040101010101" charset="-122"/>
              </a:rPr>
              <a:t>Abstract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55520" y="3476944"/>
            <a:ext cx="14239980" cy="1382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24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	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这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是一款面向生物医学领域的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AI Agent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文献智能分析系统。针对科研人员在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PubMed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文献检索、精读与跨文献对比中面临的效率瓶颈，本项目基于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LangGraph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多智能体框架，构建了“规划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—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检索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—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解析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—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对比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—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报告”五阶段自动化工作流。用户仅需输入自然语言研究问题，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Agent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即可自动拆解任务、构建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PubMed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检索式、对检索到的文献逐篇提取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17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个结构化字段，并完成跨文献对比分析，最终生成来源可溯（标注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PMID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）的结构化文献综述报告。系统创新性地采用“先结构化、后对比”策略，内建生物医学术语验证引擎与文献质量评分机制，并通过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SSE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实时流式输出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Light" panose="00020600040101010101" charset="-122"/>
              </a:rPr>
              <a:t>Agent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Light" panose="00020600040101010101" charset="-122"/>
                <a:sym typeface="字由点字典黑 2 Light" panose="00020600040101010101" charset="-122"/>
              </a:rPr>
              <a:t>执行过程，实现了全流程透明可查的“白盒化”交互体验。项目直面生物医学科研中“全文阅读成本高、关键信息难定位、跨文献对比效率低”三大痛点，为科研人员提供了一站式的文献智能分析工具。</a:t>
            </a:r>
            <a:endParaRPr lang="en-US" sz="1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grpSp>
        <p:nvGrpSpPr>
          <p:cNvPr id="74" name="Group 74"/>
          <p:cNvGrpSpPr/>
          <p:nvPr/>
        </p:nvGrpSpPr>
        <p:grpSpPr>
          <a:xfrm>
            <a:off x="484545" y="6131091"/>
            <a:ext cx="4240621" cy="1032763"/>
            <a:chOff x="0" y="-76200"/>
            <a:chExt cx="5654162" cy="1377017"/>
          </a:xfrm>
        </p:grpSpPr>
        <p:sp>
          <p:nvSpPr>
            <p:cNvPr id="75" name="TextBox 75"/>
            <p:cNvSpPr txBox="1"/>
            <p:nvPr/>
          </p:nvSpPr>
          <p:spPr>
            <a:xfrm>
              <a:off x="0" y="-76200"/>
              <a:ext cx="5654162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选题背景及意义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592368"/>
              <a:ext cx="5654162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 dirty="0" err="1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说明项目选题的背景、现实需求或应用痛点，阐述开展本项目的必要性与意义</a:t>
              </a:r>
              <a:r>
                <a:rPr lang="en-US" sz="1400" dirty="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614106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【消融实验等图表】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484545" y="8347811"/>
            <a:ext cx="4170620" cy="685417"/>
            <a:chOff x="0" y="0"/>
            <a:chExt cx="5560827" cy="913889"/>
          </a:xfrm>
        </p:grpSpPr>
        <p:sp>
          <p:nvSpPr>
            <p:cNvPr id="79" name="TextBox 79"/>
            <p:cNvSpPr txBox="1"/>
            <p:nvPr/>
          </p:nvSpPr>
          <p:spPr>
            <a:xfrm>
              <a:off x="0" y="-76200"/>
              <a:ext cx="556082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0"/>
                </a:lnSpc>
              </a:pPr>
              <a:r>
                <a:rPr lang="en-US" sz="1700" spc="-25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应用场景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573741"/>
              <a:ext cx="5560827" cy="34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项目适用的具体场景、目标用户或潜在应用方向。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380050" y="398085"/>
            <a:ext cx="10971087" cy="36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i="1" spc="86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复旦大学</a:t>
            </a:r>
            <a:r>
              <a:rPr lang="en-US" sz="2000" i="1" spc="86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“ </a:t>
            </a:r>
            <a:r>
              <a:rPr lang="en-US" sz="2000" i="1" spc="86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未来智造（</a:t>
            </a:r>
            <a:r>
              <a:rPr lang="en-US" sz="2000" i="1" spc="86" dirty="0" err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Medium Italics" panose="00020600040101010101" charset="-122"/>
              </a:rPr>
              <a:t>AI</a:t>
            </a:r>
            <a:r>
              <a:rPr lang="en-US" sz="2000" i="1" spc="86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Medium Italics" panose="00020600040101010101" charset="-122"/>
              </a:rPr>
              <a:t> </a:t>
            </a:r>
            <a:r>
              <a:rPr lang="en-US" sz="2000" i="1" spc="86" dirty="0" err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字由点字典黑 2 Medium Italics" panose="00020600040101010101" charset="-122"/>
              </a:rPr>
              <a:t>Agent</a:t>
            </a:r>
            <a:r>
              <a:rPr lang="en-US" sz="2000" i="1" spc="86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）工程师训练营</a:t>
            </a:r>
            <a:r>
              <a:rPr lang="en-US" sz="2000" i="1" spc="86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” </a:t>
            </a:r>
            <a:r>
              <a:rPr lang="en-US" sz="2000" i="1" spc="86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结题</a:t>
            </a:r>
            <a:endParaRPr lang="en-US" sz="2000" i="1" spc="86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字由点字典黑 2 Medium Italics" panose="00020600040101010101" charset="-122"/>
              <a:sym typeface="字由点字典黑 2 Medium Italics" panose="00020600040101010101" charset="-122"/>
            </a:endParaRPr>
          </a:p>
        </p:txBody>
      </p:sp>
      <p:grpSp>
        <p:nvGrpSpPr>
          <p:cNvPr id="82" name="Group 82"/>
          <p:cNvGrpSpPr/>
          <p:nvPr/>
        </p:nvGrpSpPr>
        <p:grpSpPr>
          <a:xfrm>
            <a:off x="5230470" y="6188241"/>
            <a:ext cx="4412630" cy="975612"/>
            <a:chOff x="0" y="0"/>
            <a:chExt cx="5883506" cy="1300816"/>
          </a:xfrm>
        </p:grpSpPr>
        <p:sp>
          <p:nvSpPr>
            <p:cNvPr id="83" name="TextBox 83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数据来源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项目所使用的数据、知识库、文档、接口或其他信息来源，并简要说明数据的获取与处理方式。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230470" y="8332135"/>
            <a:ext cx="4412630" cy="975612"/>
            <a:chOff x="0" y="0"/>
            <a:chExt cx="5883506" cy="1300816"/>
          </a:xfrm>
        </p:grpSpPr>
        <p:sp>
          <p:nvSpPr>
            <p:cNvPr id="86" name="TextBox 86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研究工具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介绍 Agent 开发和实现过程中使用的主要工具、平台、模型、框架等。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484545" y="5454357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引言 Introduction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211806" y="5446519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工具 Tools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0175091" y="11419755"/>
            <a:ext cx="441069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 Conclusion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524000" y="795101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 demo1】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557534" y="10692712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【项目demo2】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55520" y="11432451"/>
            <a:ext cx="8481153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研究方法与实验 Methods &amp; Experiments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262981" y="16222835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【项目方法1】简要说明项目的整体技术思路、系统架构或 Agent 工作流程。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62981" y="17178128"/>
            <a:ext cx="788480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【项目方法2】简要说明项目中的关键模块、核心算法、工具调用方式或创新设计。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663039" y="1544681"/>
            <a:ext cx="5512002" cy="35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zh-CN" altLang="en-US" sz="2000" b="1" spc="13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彭希瑞 徐包原 钱逸峰 松格拉 康熙 夏庭浩</a:t>
            </a:r>
            <a:endParaRPr lang="en-US" sz="2000" b="1" spc="132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97" name="TextBox 97"/>
          <p:cNvSpPr txBox="1"/>
          <p:nvPr/>
        </p:nvSpPr>
        <p:spPr>
          <a:xfrm>
            <a:off x="4518571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项目网站 / 论文链接（如有）：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52552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【流程图】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52605" y="15704674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项目方法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52605" y="17888297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实验验证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262981" y="18463037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【实验验证1】说明项目功能测试、案例验证或系统运行效果的主要内容。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62981" y="19339815"/>
            <a:ext cx="838011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【实验验证2】说明项目效果评估方式、对比实验、用户反馈或结果分析。</a:t>
            </a:r>
          </a:p>
          <a:p>
            <a:pPr marL="0" lvl="0" indent="0" algn="just">
              <a:lnSpc>
                <a:spcPts val="2240"/>
              </a:lnSpc>
            </a:pP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10175091" y="15209854"/>
            <a:ext cx="914251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未来改进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175091" y="15618946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说明项目仍可优化的方向，如功能完善、性能提升、场景拓展、用户体验优化等。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377</Words>
  <Application>Microsoft Office PowerPoint</Application>
  <PresentationFormat>自定义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Calibri</vt:lpstr>
      <vt:lpstr>字由点字典黑 1 Bold</vt:lpstr>
      <vt:lpstr>字由点字典黑 2 Light</vt:lpstr>
      <vt:lpstr>字由点字典黑 1</vt:lpstr>
      <vt:lpstr>阿里巴巴普惠体 Medium</vt:lpstr>
      <vt:lpstr>黑体</vt:lpstr>
      <vt:lpstr>Arial</vt:lpstr>
      <vt:lpstr>字由点字典黑 2 Bold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Agent结题海报</dc:title>
  <dc:creator/>
  <cp:lastModifiedBy>庭浩 夏</cp:lastModifiedBy>
  <cp:revision>11</cp:revision>
  <dcterms:created xsi:type="dcterms:W3CDTF">2006-08-16T00:00:00Z</dcterms:created>
  <dcterms:modified xsi:type="dcterms:W3CDTF">2026-07-13T06:04:40Z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{"Label":"1","ContentProducer":"001191110105MA01AN806X00000","ProduceID":"DAHOBITszDA","ReservedCode1":"","ContentPropagator":"001191110105MA01AN806X00000","PropagateID":"DAHOBITszDA","ReservedCode2":""}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E8B5763A5A424A07A8CDBE7D9C8DDD7E_12</vt:lpwstr>
  </property>
</Properties>
</file>