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
  </p:notesMasterIdLst>
  <p:sldIdLst>
    <p:sldId id="256" r:id="rId2"/>
  </p:sldIdLst>
  <p:sldSz cx="15113000" cy="21374100"/>
  <p:notesSz cx="6858000" cy="9144000"/>
  <p:embeddedFontLst>
    <p:embeddedFont>
      <p:font typeface="字由点字典黑 2 Bold" panose="02010600030101010101" charset="-122"/>
      <p:regular r:id="rId4"/>
    </p:embeddedFont>
    <p:embeddedFont>
      <p:font typeface="等线" panose="02010600030101010101" pitchFamily="2" charset="-122"/>
      <p:regular r:id="rId5"/>
      <p:bold r:id="rId6"/>
    </p:embeddedFont>
    <p:embeddedFont>
      <p:font typeface="黑体" panose="02010609060101010101" pitchFamily="49" charset="-122"/>
      <p:regular r:id="rId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0" userDrawn="1">
          <p15:clr>
            <a:srgbClr val="A4A3A4"/>
          </p15:clr>
        </p15:guide>
        <p15:guide id="2" pos="284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125" d="100"/>
          <a:sy n="125" d="100"/>
        </p:scale>
        <p:origin x="280" y="572"/>
      </p:cViewPr>
      <p:guideLst>
        <p:guide orient="horz" pos="2190"/>
        <p:guide pos="2846"/>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schemas.openxmlformats.org/officeDocument/2006/relationships/font" Target="fonts/font4.fntdata"/><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tableStyles" Target="tableStyles.xml"/><Relationship Id="rId5" Type="http://schemas.openxmlformats.org/officeDocument/2006/relationships/font" Target="fonts/font2.fntdata"/><Relationship Id="rId10" Type="http://schemas.openxmlformats.org/officeDocument/2006/relationships/theme" Target="theme/theme1.xml"/><Relationship Id="rId4" Type="http://schemas.openxmlformats.org/officeDocument/2006/relationships/font" Target="fonts/font1.fntdata"/><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E70504-C888-4880-8F5B-315269C5EDB7}" type="datetimeFigureOut">
              <a:rPr lang="zh-CN" altLang="en-US" smtClean="0"/>
              <a:t>2026/7/13</a:t>
            </a:fld>
            <a:endParaRPr lang="zh-CN" altLang="en-US"/>
          </a:p>
        </p:txBody>
      </p:sp>
      <p:sp>
        <p:nvSpPr>
          <p:cNvPr id="4" name="幻灯片图像占位符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426B732-490D-4B7C-841A-7C903040A337}" type="slidenum">
              <a:rPr lang="zh-CN" altLang="en-US" smtClean="0"/>
              <a:t>‹#›</a:t>
            </a:fld>
            <a:endParaRPr lang="zh-CN" altLang="en-US"/>
          </a:p>
        </p:txBody>
      </p:sp>
    </p:spTree>
    <p:extLst>
      <p:ext uri="{BB962C8B-B14F-4D97-AF65-F5344CB8AC3E}">
        <p14:creationId xmlns:p14="http://schemas.microsoft.com/office/powerpoint/2010/main" val="9326891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P:planner   S:search  R:review_search   A:parse  C:compare  T:report  E:review_results</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426B732-490D-4B7C-841A-7C903040A337}" type="slidenum">
              <a:rPr lang="zh-CN" altLang="en-US" smtClean="0"/>
              <a:t>1</a:t>
            </a:fld>
            <a:endParaRPr lang="zh-CN" altLang="en-US"/>
          </a:p>
        </p:txBody>
      </p:sp>
    </p:spTree>
    <p:extLst>
      <p:ext uri="{BB962C8B-B14F-4D97-AF65-F5344CB8AC3E}">
        <p14:creationId xmlns:p14="http://schemas.microsoft.com/office/powerpoint/2010/main" val="32042372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t>7/13/2026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t>7/13/2026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t>7/13/2026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1E6EA"/>
        </a:solidFill>
        <a:effectLst/>
      </p:bgPr>
    </p:bg>
    <p:spTree>
      <p:nvGrpSpPr>
        <p:cNvPr id="1" name=""/>
        <p:cNvGrpSpPr/>
        <p:nvPr/>
      </p:nvGrpSpPr>
      <p:grpSpPr>
        <a:xfrm>
          <a:off x="0" y="0"/>
          <a:ext cx="0" cy="0"/>
          <a:chOff x="0" y="0"/>
          <a:chExt cx="0" cy="0"/>
        </a:xfrm>
      </p:grpSpPr>
      <p:grpSp>
        <p:nvGrpSpPr>
          <p:cNvPr id="2" name="Group 2"/>
          <p:cNvGrpSpPr/>
          <p:nvPr/>
        </p:nvGrpSpPr>
        <p:grpSpPr>
          <a:xfrm>
            <a:off x="360684" y="20496454"/>
            <a:ext cx="14398631" cy="615197"/>
            <a:chOff x="0" y="0"/>
            <a:chExt cx="2580072" cy="110236"/>
          </a:xfrm>
        </p:grpSpPr>
        <p:sp>
          <p:nvSpPr>
            <p:cNvPr id="3" name="Freeform 3"/>
            <p:cNvSpPr/>
            <p:nvPr/>
          </p:nvSpPr>
          <p:spPr>
            <a:xfrm>
              <a:off x="0" y="0"/>
              <a:ext cx="2580072" cy="110236"/>
            </a:xfrm>
            <a:custGeom>
              <a:avLst/>
              <a:gdLst/>
              <a:ahLst/>
              <a:cxnLst/>
              <a:rect l="l" t="t" r="r" b="b"/>
              <a:pathLst>
                <a:path w="2580072" h="110236">
                  <a:moveTo>
                    <a:pt x="0" y="0"/>
                  </a:moveTo>
                  <a:lnTo>
                    <a:pt x="2580072" y="0"/>
                  </a:lnTo>
                  <a:lnTo>
                    <a:pt x="2580072" y="110236"/>
                  </a:lnTo>
                  <a:lnTo>
                    <a:pt x="0" y="110236"/>
                  </a:lnTo>
                  <a:close/>
                </a:path>
              </a:pathLst>
            </a:custGeom>
            <a:gradFill rotWithShape="1">
              <a:gsLst>
                <a:gs pos="0">
                  <a:srgbClr val="015ECE">
                    <a:alpha val="100000"/>
                  </a:srgbClr>
                </a:gs>
                <a:gs pos="50000">
                  <a:srgbClr val="0059AC">
                    <a:alpha val="100000"/>
                  </a:srgbClr>
                </a:gs>
                <a:gs pos="100000">
                  <a:srgbClr val="0E314E">
                    <a:alpha val="100000"/>
                  </a:srgbClr>
                </a:gs>
              </a:gsLst>
              <a:lin ang="0"/>
            </a:gradFill>
            <a:ln cap="sq">
              <a:noFill/>
              <a:prstDash val="solid"/>
              <a:miter/>
            </a:ln>
          </p:spPr>
          <p:txBody>
            <a:bodyPr/>
            <a:lstStyle/>
            <a:p>
              <a:endParaRPr lang="zh-CN" altLang="en-US"/>
            </a:p>
          </p:txBody>
        </p:sp>
        <p:sp>
          <p:nvSpPr>
            <p:cNvPr id="4" name="TextBox 4"/>
            <p:cNvSpPr txBox="1"/>
            <p:nvPr/>
          </p:nvSpPr>
          <p:spPr>
            <a:xfrm>
              <a:off x="0" y="-95250"/>
              <a:ext cx="2580072" cy="205486"/>
            </a:xfrm>
            <a:prstGeom prst="rect">
              <a:avLst/>
            </a:prstGeom>
          </p:spPr>
          <p:txBody>
            <a:bodyPr lIns="50800" tIns="50800" rIns="50800" bIns="50800" rtlCol="0" anchor="ctr"/>
            <a:lstStyle/>
            <a:p>
              <a:pPr marL="0" lvl="0" indent="0" algn="ctr">
                <a:lnSpc>
                  <a:spcPts val="3675"/>
                </a:lnSpc>
                <a:spcBef>
                  <a:spcPct val="0"/>
                </a:spcBef>
              </a:pPr>
              <a:endParaRPr/>
            </a:p>
          </p:txBody>
        </p:sp>
      </p:grpSp>
      <p:grpSp>
        <p:nvGrpSpPr>
          <p:cNvPr id="5" name="Group 5"/>
          <p:cNvGrpSpPr/>
          <p:nvPr/>
        </p:nvGrpSpPr>
        <p:grpSpPr>
          <a:xfrm>
            <a:off x="359854" y="5418194"/>
            <a:ext cx="4517474" cy="5731690"/>
            <a:chOff x="0" y="0"/>
            <a:chExt cx="907236" cy="1151085"/>
          </a:xfrm>
        </p:grpSpPr>
        <p:sp>
          <p:nvSpPr>
            <p:cNvPr id="6" name="Freeform 6"/>
            <p:cNvSpPr/>
            <p:nvPr/>
          </p:nvSpPr>
          <p:spPr>
            <a:xfrm>
              <a:off x="0" y="0"/>
              <a:ext cx="907236" cy="1151085"/>
            </a:xfrm>
            <a:custGeom>
              <a:avLst/>
              <a:gdLst/>
              <a:ahLst/>
              <a:cxnLst/>
              <a:rect l="l" t="t" r="r" b="b"/>
              <a:pathLst>
                <a:path w="907236" h="1151085">
                  <a:moveTo>
                    <a:pt x="0" y="0"/>
                  </a:moveTo>
                  <a:lnTo>
                    <a:pt x="907236" y="0"/>
                  </a:lnTo>
                  <a:lnTo>
                    <a:pt x="907236" y="1151085"/>
                  </a:lnTo>
                  <a:lnTo>
                    <a:pt x="0" y="1151085"/>
                  </a:lnTo>
                  <a:close/>
                </a:path>
              </a:pathLst>
            </a:custGeom>
            <a:solidFill>
              <a:srgbClr val="FFFFFF"/>
            </a:solidFill>
            <a:ln cap="sq">
              <a:noFill/>
              <a:prstDash val="solid"/>
              <a:miter/>
            </a:ln>
          </p:spPr>
          <p:txBody>
            <a:bodyPr/>
            <a:lstStyle/>
            <a:p>
              <a:endParaRPr lang="zh-CN" altLang="en-US"/>
            </a:p>
          </p:txBody>
        </p:sp>
        <p:sp>
          <p:nvSpPr>
            <p:cNvPr id="7" name="TextBox 7"/>
            <p:cNvSpPr txBox="1"/>
            <p:nvPr/>
          </p:nvSpPr>
          <p:spPr>
            <a:xfrm>
              <a:off x="0" y="-95250"/>
              <a:ext cx="907236" cy="1246335"/>
            </a:xfrm>
            <a:prstGeom prst="rect">
              <a:avLst/>
            </a:prstGeom>
          </p:spPr>
          <p:txBody>
            <a:bodyPr lIns="50800" tIns="50800" rIns="50800" bIns="50800" rtlCol="0" anchor="ctr"/>
            <a:lstStyle/>
            <a:p>
              <a:pPr marL="0" lvl="0" indent="0" algn="ctr">
                <a:lnSpc>
                  <a:spcPts val="3675"/>
                </a:lnSpc>
                <a:spcBef>
                  <a:spcPct val="0"/>
                </a:spcBef>
              </a:pPr>
              <a:endParaRPr/>
            </a:p>
          </p:txBody>
        </p:sp>
      </p:grpSp>
      <p:grpSp>
        <p:nvGrpSpPr>
          <p:cNvPr id="8" name="Group 8"/>
          <p:cNvGrpSpPr/>
          <p:nvPr/>
        </p:nvGrpSpPr>
        <p:grpSpPr>
          <a:xfrm>
            <a:off x="5070442" y="5402517"/>
            <a:ext cx="4698705" cy="5731690"/>
            <a:chOff x="0" y="0"/>
            <a:chExt cx="943632" cy="1151085"/>
          </a:xfrm>
        </p:grpSpPr>
        <p:sp>
          <p:nvSpPr>
            <p:cNvPr id="9" name="Freeform 9"/>
            <p:cNvSpPr/>
            <p:nvPr/>
          </p:nvSpPr>
          <p:spPr>
            <a:xfrm>
              <a:off x="0" y="0"/>
              <a:ext cx="943632" cy="1151085"/>
            </a:xfrm>
            <a:custGeom>
              <a:avLst/>
              <a:gdLst/>
              <a:ahLst/>
              <a:cxnLst/>
              <a:rect l="l" t="t" r="r" b="b"/>
              <a:pathLst>
                <a:path w="943632" h="1151085">
                  <a:moveTo>
                    <a:pt x="0" y="0"/>
                  </a:moveTo>
                  <a:lnTo>
                    <a:pt x="943632" y="0"/>
                  </a:lnTo>
                  <a:lnTo>
                    <a:pt x="943632" y="1151085"/>
                  </a:lnTo>
                  <a:lnTo>
                    <a:pt x="0" y="1151085"/>
                  </a:lnTo>
                  <a:close/>
                </a:path>
              </a:pathLst>
            </a:custGeom>
            <a:solidFill>
              <a:srgbClr val="FFFFFF"/>
            </a:solidFill>
            <a:ln cap="sq">
              <a:noFill/>
              <a:prstDash val="solid"/>
              <a:miter/>
            </a:ln>
          </p:spPr>
          <p:txBody>
            <a:bodyPr/>
            <a:lstStyle/>
            <a:p>
              <a:endParaRPr lang="zh-CN" altLang="en-US"/>
            </a:p>
          </p:txBody>
        </p:sp>
        <p:sp>
          <p:nvSpPr>
            <p:cNvPr id="10" name="TextBox 10"/>
            <p:cNvSpPr txBox="1"/>
            <p:nvPr/>
          </p:nvSpPr>
          <p:spPr>
            <a:xfrm>
              <a:off x="0" y="-95250"/>
              <a:ext cx="943632" cy="1246335"/>
            </a:xfrm>
            <a:prstGeom prst="rect">
              <a:avLst/>
            </a:prstGeom>
          </p:spPr>
          <p:txBody>
            <a:bodyPr lIns="50800" tIns="50800" rIns="50800" bIns="50800" rtlCol="0" anchor="ctr"/>
            <a:lstStyle/>
            <a:p>
              <a:pPr marL="0" lvl="0" indent="0" algn="ctr">
                <a:lnSpc>
                  <a:spcPts val="3675"/>
                </a:lnSpc>
                <a:spcBef>
                  <a:spcPct val="0"/>
                </a:spcBef>
              </a:pPr>
              <a:endParaRPr/>
            </a:p>
          </p:txBody>
        </p:sp>
      </p:grpSp>
      <p:grpSp>
        <p:nvGrpSpPr>
          <p:cNvPr id="11" name="Group 11"/>
          <p:cNvGrpSpPr/>
          <p:nvPr/>
        </p:nvGrpSpPr>
        <p:grpSpPr>
          <a:xfrm>
            <a:off x="-31750" y="-2490470"/>
            <a:ext cx="15145385" cy="4709160"/>
            <a:chOff x="0" y="0"/>
            <a:chExt cx="3853567" cy="843817"/>
          </a:xfrm>
        </p:grpSpPr>
        <p:sp>
          <p:nvSpPr>
            <p:cNvPr id="12" name="Freeform 12"/>
            <p:cNvSpPr/>
            <p:nvPr/>
          </p:nvSpPr>
          <p:spPr>
            <a:xfrm>
              <a:off x="0" y="0"/>
              <a:ext cx="3853567" cy="843817"/>
            </a:xfrm>
            <a:custGeom>
              <a:avLst/>
              <a:gdLst/>
              <a:ahLst/>
              <a:cxnLst/>
              <a:rect l="l" t="t" r="r" b="b"/>
              <a:pathLst>
                <a:path w="3853567" h="843817">
                  <a:moveTo>
                    <a:pt x="0" y="0"/>
                  </a:moveTo>
                  <a:lnTo>
                    <a:pt x="3853567" y="0"/>
                  </a:lnTo>
                  <a:lnTo>
                    <a:pt x="3853567" y="843817"/>
                  </a:lnTo>
                  <a:lnTo>
                    <a:pt x="0" y="843817"/>
                  </a:lnTo>
                  <a:close/>
                </a:path>
              </a:pathLst>
            </a:custGeom>
            <a:gradFill rotWithShape="1">
              <a:gsLst>
                <a:gs pos="0">
                  <a:srgbClr val="015ECE">
                    <a:alpha val="100000"/>
                  </a:srgbClr>
                </a:gs>
                <a:gs pos="50000">
                  <a:srgbClr val="0059AC">
                    <a:alpha val="100000"/>
                  </a:srgbClr>
                </a:gs>
                <a:gs pos="100000">
                  <a:srgbClr val="0E314E">
                    <a:alpha val="100000"/>
                  </a:srgbClr>
                </a:gs>
              </a:gsLst>
              <a:lin ang="0"/>
            </a:gradFill>
          </p:spPr>
          <p:txBody>
            <a:bodyPr/>
            <a:lstStyle/>
            <a:p>
              <a:endParaRPr lang="zh-CN" altLang="en-US"/>
            </a:p>
          </p:txBody>
        </p:sp>
        <p:sp>
          <p:nvSpPr>
            <p:cNvPr id="13" name="TextBox 13"/>
            <p:cNvSpPr txBox="1"/>
            <p:nvPr/>
          </p:nvSpPr>
          <p:spPr>
            <a:xfrm>
              <a:off x="0" y="-66675"/>
              <a:ext cx="3853567" cy="910492"/>
            </a:xfrm>
            <a:prstGeom prst="rect">
              <a:avLst/>
            </a:prstGeom>
          </p:spPr>
          <p:txBody>
            <a:bodyPr lIns="50800" tIns="50800" rIns="50800" bIns="50800" rtlCol="0" anchor="ctr"/>
            <a:lstStyle/>
            <a:p>
              <a:pPr algn="ctr">
                <a:lnSpc>
                  <a:spcPts val="2880"/>
                </a:lnSpc>
              </a:pPr>
              <a:endParaRPr/>
            </a:p>
          </p:txBody>
        </p:sp>
      </p:grpSp>
      <p:sp>
        <p:nvSpPr>
          <p:cNvPr id="14" name="Freeform 14"/>
          <p:cNvSpPr/>
          <p:nvPr/>
        </p:nvSpPr>
        <p:spPr>
          <a:xfrm>
            <a:off x="-31750" y="-4610100"/>
            <a:ext cx="15144115" cy="6828790"/>
          </a:xfrm>
          <a:custGeom>
            <a:avLst/>
            <a:gdLst/>
            <a:ahLst/>
            <a:cxnLst/>
            <a:rect l="l" t="t" r="r" b="b"/>
            <a:pathLst>
              <a:path w="17281491" h="7035199">
                <a:moveTo>
                  <a:pt x="0" y="0"/>
                </a:moveTo>
                <a:lnTo>
                  <a:pt x="17281491" y="0"/>
                </a:lnTo>
                <a:lnTo>
                  <a:pt x="17281491" y="7035199"/>
                </a:lnTo>
                <a:lnTo>
                  <a:pt x="0" y="7035199"/>
                </a:lnTo>
                <a:lnTo>
                  <a:pt x="0" y="0"/>
                </a:lnTo>
                <a:close/>
              </a:path>
            </a:pathLst>
          </a:custGeom>
          <a:blipFill>
            <a:blip r:embed="rId3">
              <a:alphaModFix amt="23000"/>
            </a:blip>
            <a:stretch>
              <a:fillRect t="-19087" b="-19087"/>
            </a:stretch>
          </a:blipFill>
        </p:spPr>
        <p:txBody>
          <a:bodyPr/>
          <a:lstStyle/>
          <a:p>
            <a:endParaRPr lang="zh-CN" altLang="en-US"/>
          </a:p>
        </p:txBody>
      </p:sp>
      <p:grpSp>
        <p:nvGrpSpPr>
          <p:cNvPr id="15" name="Group 15"/>
          <p:cNvGrpSpPr/>
          <p:nvPr/>
        </p:nvGrpSpPr>
        <p:grpSpPr>
          <a:xfrm>
            <a:off x="9981806" y="11372332"/>
            <a:ext cx="4777509" cy="8895522"/>
            <a:chOff x="0" y="0"/>
            <a:chExt cx="959459" cy="1786472"/>
          </a:xfrm>
        </p:grpSpPr>
        <p:sp>
          <p:nvSpPr>
            <p:cNvPr id="16" name="Freeform 16"/>
            <p:cNvSpPr/>
            <p:nvPr/>
          </p:nvSpPr>
          <p:spPr>
            <a:xfrm>
              <a:off x="0" y="0"/>
              <a:ext cx="959459" cy="1786472"/>
            </a:xfrm>
            <a:custGeom>
              <a:avLst/>
              <a:gdLst/>
              <a:ahLst/>
              <a:cxnLst/>
              <a:rect l="l" t="t" r="r" b="b"/>
              <a:pathLst>
                <a:path w="959459" h="1786472">
                  <a:moveTo>
                    <a:pt x="0" y="0"/>
                  </a:moveTo>
                  <a:lnTo>
                    <a:pt x="959459" y="0"/>
                  </a:lnTo>
                  <a:lnTo>
                    <a:pt x="959459" y="1786472"/>
                  </a:lnTo>
                  <a:lnTo>
                    <a:pt x="0" y="1786472"/>
                  </a:lnTo>
                  <a:close/>
                </a:path>
              </a:pathLst>
            </a:custGeom>
            <a:solidFill>
              <a:srgbClr val="FFFFFF"/>
            </a:solidFill>
            <a:ln cap="sq">
              <a:noFill/>
              <a:prstDash val="solid"/>
              <a:miter/>
            </a:ln>
          </p:spPr>
          <p:txBody>
            <a:bodyPr/>
            <a:lstStyle/>
            <a:p>
              <a:endParaRPr lang="zh-CN" altLang="en-US"/>
            </a:p>
          </p:txBody>
        </p:sp>
        <p:sp>
          <p:nvSpPr>
            <p:cNvPr id="17" name="TextBox 17"/>
            <p:cNvSpPr txBox="1"/>
            <p:nvPr/>
          </p:nvSpPr>
          <p:spPr>
            <a:xfrm>
              <a:off x="0" y="-95250"/>
              <a:ext cx="959459" cy="1881722"/>
            </a:xfrm>
            <a:prstGeom prst="rect">
              <a:avLst/>
            </a:prstGeom>
          </p:spPr>
          <p:txBody>
            <a:bodyPr lIns="50800" tIns="50800" rIns="50800" bIns="50800" rtlCol="0" anchor="ctr"/>
            <a:lstStyle/>
            <a:p>
              <a:pPr algn="ctr">
                <a:lnSpc>
                  <a:spcPts val="3675"/>
                </a:lnSpc>
              </a:pPr>
              <a:endParaRPr/>
            </a:p>
          </p:txBody>
        </p:sp>
      </p:grpSp>
      <p:grpSp>
        <p:nvGrpSpPr>
          <p:cNvPr id="18" name="Group 18"/>
          <p:cNvGrpSpPr/>
          <p:nvPr/>
        </p:nvGrpSpPr>
        <p:grpSpPr>
          <a:xfrm>
            <a:off x="9981806" y="11368959"/>
            <a:ext cx="4785288" cy="632625"/>
            <a:chOff x="0" y="0"/>
            <a:chExt cx="961021" cy="127049"/>
          </a:xfrm>
        </p:grpSpPr>
        <p:sp>
          <p:nvSpPr>
            <p:cNvPr id="19" name="Freeform 19"/>
            <p:cNvSpPr/>
            <p:nvPr/>
          </p:nvSpPr>
          <p:spPr>
            <a:xfrm>
              <a:off x="0" y="0"/>
              <a:ext cx="961021" cy="127049"/>
            </a:xfrm>
            <a:custGeom>
              <a:avLst/>
              <a:gdLst/>
              <a:ahLst/>
              <a:cxnLst/>
              <a:rect l="l" t="t" r="r" b="b"/>
              <a:pathLst>
                <a:path w="961021" h="127049">
                  <a:moveTo>
                    <a:pt x="0" y="0"/>
                  </a:moveTo>
                  <a:lnTo>
                    <a:pt x="961021" y="0"/>
                  </a:lnTo>
                  <a:lnTo>
                    <a:pt x="961021" y="127049"/>
                  </a:lnTo>
                  <a:lnTo>
                    <a:pt x="0" y="127049"/>
                  </a:lnTo>
                  <a:close/>
                </a:path>
              </a:pathLst>
            </a:custGeom>
            <a:gradFill rotWithShape="1">
              <a:gsLst>
                <a:gs pos="0">
                  <a:srgbClr val="015ECE">
                    <a:alpha val="100000"/>
                  </a:srgbClr>
                </a:gs>
                <a:gs pos="50000">
                  <a:srgbClr val="0059AC">
                    <a:alpha val="100000"/>
                  </a:srgbClr>
                </a:gs>
                <a:gs pos="100000">
                  <a:srgbClr val="0E314E">
                    <a:alpha val="100000"/>
                  </a:srgbClr>
                </a:gs>
              </a:gsLst>
              <a:lin ang="0"/>
            </a:gradFill>
          </p:spPr>
          <p:txBody>
            <a:bodyPr/>
            <a:lstStyle/>
            <a:p>
              <a:endParaRPr lang="zh-CN" altLang="en-US"/>
            </a:p>
          </p:txBody>
        </p:sp>
        <p:sp>
          <p:nvSpPr>
            <p:cNvPr id="20" name="TextBox 20"/>
            <p:cNvSpPr txBox="1"/>
            <p:nvPr/>
          </p:nvSpPr>
          <p:spPr>
            <a:xfrm>
              <a:off x="0" y="-95250"/>
              <a:ext cx="961021" cy="222299"/>
            </a:xfrm>
            <a:prstGeom prst="rect">
              <a:avLst/>
            </a:prstGeom>
          </p:spPr>
          <p:txBody>
            <a:bodyPr lIns="50800" tIns="50800" rIns="50800" bIns="50800" rtlCol="0" anchor="ctr"/>
            <a:lstStyle/>
            <a:p>
              <a:pPr algn="ctr">
                <a:lnSpc>
                  <a:spcPts val="3675"/>
                </a:lnSpc>
              </a:pPr>
              <a:endParaRPr/>
            </a:p>
          </p:txBody>
        </p:sp>
      </p:grpSp>
      <p:grpSp>
        <p:nvGrpSpPr>
          <p:cNvPr id="21" name="Group 21"/>
          <p:cNvGrpSpPr/>
          <p:nvPr/>
        </p:nvGrpSpPr>
        <p:grpSpPr>
          <a:xfrm>
            <a:off x="360684" y="2753207"/>
            <a:ext cx="14398631" cy="2430235"/>
            <a:chOff x="0" y="0"/>
            <a:chExt cx="2891651" cy="488060"/>
          </a:xfrm>
        </p:grpSpPr>
        <p:sp>
          <p:nvSpPr>
            <p:cNvPr id="22" name="Freeform 22"/>
            <p:cNvSpPr/>
            <p:nvPr/>
          </p:nvSpPr>
          <p:spPr>
            <a:xfrm>
              <a:off x="0" y="0"/>
              <a:ext cx="2891651" cy="488060"/>
            </a:xfrm>
            <a:custGeom>
              <a:avLst/>
              <a:gdLst/>
              <a:ahLst/>
              <a:cxnLst/>
              <a:rect l="l" t="t" r="r" b="b"/>
              <a:pathLst>
                <a:path w="2891651" h="488060">
                  <a:moveTo>
                    <a:pt x="0" y="0"/>
                  </a:moveTo>
                  <a:lnTo>
                    <a:pt x="2891651" y="0"/>
                  </a:lnTo>
                  <a:lnTo>
                    <a:pt x="2891651" y="488060"/>
                  </a:lnTo>
                  <a:lnTo>
                    <a:pt x="0" y="488060"/>
                  </a:lnTo>
                  <a:close/>
                </a:path>
              </a:pathLst>
            </a:custGeom>
            <a:solidFill>
              <a:srgbClr val="FFFFFF"/>
            </a:solidFill>
            <a:ln cap="sq">
              <a:noFill/>
              <a:prstDash val="solid"/>
              <a:miter/>
            </a:ln>
          </p:spPr>
          <p:txBody>
            <a:bodyPr/>
            <a:lstStyle/>
            <a:p>
              <a:endParaRPr lang="zh-CN" altLang="en-US"/>
            </a:p>
          </p:txBody>
        </p:sp>
        <p:sp>
          <p:nvSpPr>
            <p:cNvPr id="23" name="TextBox 23"/>
            <p:cNvSpPr txBox="1"/>
            <p:nvPr/>
          </p:nvSpPr>
          <p:spPr>
            <a:xfrm>
              <a:off x="0" y="-95250"/>
              <a:ext cx="2891651" cy="583310"/>
            </a:xfrm>
            <a:prstGeom prst="rect">
              <a:avLst/>
            </a:prstGeom>
          </p:spPr>
          <p:txBody>
            <a:bodyPr lIns="50800" tIns="50800" rIns="50800" bIns="50800" rtlCol="0" anchor="ctr"/>
            <a:lstStyle/>
            <a:p>
              <a:pPr algn="ctr">
                <a:lnSpc>
                  <a:spcPts val="3675"/>
                </a:lnSpc>
              </a:pPr>
              <a:endParaRPr/>
            </a:p>
          </p:txBody>
        </p:sp>
      </p:grpSp>
      <p:grpSp>
        <p:nvGrpSpPr>
          <p:cNvPr id="24" name="Group 24"/>
          <p:cNvGrpSpPr/>
          <p:nvPr/>
        </p:nvGrpSpPr>
        <p:grpSpPr>
          <a:xfrm>
            <a:off x="360684" y="2753207"/>
            <a:ext cx="14398631" cy="576539"/>
            <a:chOff x="0" y="0"/>
            <a:chExt cx="2891651" cy="115785"/>
          </a:xfrm>
        </p:grpSpPr>
        <p:sp>
          <p:nvSpPr>
            <p:cNvPr id="25" name="Freeform 25"/>
            <p:cNvSpPr/>
            <p:nvPr/>
          </p:nvSpPr>
          <p:spPr>
            <a:xfrm>
              <a:off x="0" y="0"/>
              <a:ext cx="2891651" cy="115785"/>
            </a:xfrm>
            <a:custGeom>
              <a:avLst/>
              <a:gdLst/>
              <a:ahLst/>
              <a:cxnLst/>
              <a:rect l="l" t="t" r="r" b="b"/>
              <a:pathLst>
                <a:path w="2891651" h="115785">
                  <a:moveTo>
                    <a:pt x="0" y="0"/>
                  </a:moveTo>
                  <a:lnTo>
                    <a:pt x="2891651" y="0"/>
                  </a:lnTo>
                  <a:lnTo>
                    <a:pt x="2891651" y="115785"/>
                  </a:lnTo>
                  <a:lnTo>
                    <a:pt x="0" y="115785"/>
                  </a:lnTo>
                  <a:close/>
                </a:path>
              </a:pathLst>
            </a:custGeom>
            <a:gradFill rotWithShape="1">
              <a:gsLst>
                <a:gs pos="0">
                  <a:srgbClr val="015ECE">
                    <a:alpha val="100000"/>
                  </a:srgbClr>
                </a:gs>
                <a:gs pos="50000">
                  <a:srgbClr val="0059AC">
                    <a:alpha val="100000"/>
                  </a:srgbClr>
                </a:gs>
                <a:gs pos="100000">
                  <a:srgbClr val="0E314E">
                    <a:alpha val="100000"/>
                  </a:srgbClr>
                </a:gs>
              </a:gsLst>
              <a:lin ang="0"/>
            </a:gradFill>
          </p:spPr>
          <p:txBody>
            <a:bodyPr/>
            <a:lstStyle/>
            <a:p>
              <a:endParaRPr lang="zh-CN" altLang="en-US"/>
            </a:p>
          </p:txBody>
        </p:sp>
        <p:sp>
          <p:nvSpPr>
            <p:cNvPr id="26" name="TextBox 26"/>
            <p:cNvSpPr txBox="1"/>
            <p:nvPr/>
          </p:nvSpPr>
          <p:spPr>
            <a:xfrm>
              <a:off x="0" y="-95250"/>
              <a:ext cx="2891651" cy="211035"/>
            </a:xfrm>
            <a:prstGeom prst="rect">
              <a:avLst/>
            </a:prstGeom>
          </p:spPr>
          <p:txBody>
            <a:bodyPr lIns="50800" tIns="50800" rIns="50800" bIns="50800" rtlCol="0" anchor="ctr"/>
            <a:lstStyle/>
            <a:p>
              <a:pPr algn="ctr">
                <a:lnSpc>
                  <a:spcPts val="3675"/>
                </a:lnSpc>
              </a:pPr>
              <a:endParaRPr/>
            </a:p>
          </p:txBody>
        </p:sp>
      </p:grpSp>
      <p:grpSp>
        <p:nvGrpSpPr>
          <p:cNvPr id="27" name="Group 27"/>
          <p:cNvGrpSpPr/>
          <p:nvPr/>
        </p:nvGrpSpPr>
        <p:grpSpPr>
          <a:xfrm>
            <a:off x="361837" y="5418194"/>
            <a:ext cx="4513509" cy="603360"/>
            <a:chOff x="0" y="0"/>
            <a:chExt cx="906440" cy="121172"/>
          </a:xfrm>
        </p:grpSpPr>
        <p:sp>
          <p:nvSpPr>
            <p:cNvPr id="28" name="Freeform 28"/>
            <p:cNvSpPr/>
            <p:nvPr/>
          </p:nvSpPr>
          <p:spPr>
            <a:xfrm>
              <a:off x="0" y="0"/>
              <a:ext cx="906440" cy="121172"/>
            </a:xfrm>
            <a:custGeom>
              <a:avLst/>
              <a:gdLst/>
              <a:ahLst/>
              <a:cxnLst/>
              <a:rect l="l" t="t" r="r" b="b"/>
              <a:pathLst>
                <a:path w="906440" h="121172">
                  <a:moveTo>
                    <a:pt x="0" y="0"/>
                  </a:moveTo>
                  <a:lnTo>
                    <a:pt x="906440" y="0"/>
                  </a:lnTo>
                  <a:lnTo>
                    <a:pt x="906440" y="121172"/>
                  </a:lnTo>
                  <a:lnTo>
                    <a:pt x="0" y="121172"/>
                  </a:lnTo>
                  <a:close/>
                </a:path>
              </a:pathLst>
            </a:custGeom>
            <a:gradFill rotWithShape="1">
              <a:gsLst>
                <a:gs pos="0">
                  <a:srgbClr val="015ECE">
                    <a:alpha val="100000"/>
                  </a:srgbClr>
                </a:gs>
                <a:gs pos="50000">
                  <a:srgbClr val="0059AC">
                    <a:alpha val="100000"/>
                  </a:srgbClr>
                </a:gs>
                <a:gs pos="100000">
                  <a:srgbClr val="0E314E">
                    <a:alpha val="100000"/>
                  </a:srgbClr>
                </a:gs>
              </a:gsLst>
              <a:lin ang="0"/>
            </a:gradFill>
          </p:spPr>
          <p:txBody>
            <a:bodyPr/>
            <a:lstStyle/>
            <a:p>
              <a:endParaRPr lang="zh-CN" altLang="en-US"/>
            </a:p>
          </p:txBody>
        </p:sp>
        <p:sp>
          <p:nvSpPr>
            <p:cNvPr id="29" name="TextBox 29"/>
            <p:cNvSpPr txBox="1"/>
            <p:nvPr/>
          </p:nvSpPr>
          <p:spPr>
            <a:xfrm>
              <a:off x="0" y="-95250"/>
              <a:ext cx="906440" cy="216422"/>
            </a:xfrm>
            <a:prstGeom prst="rect">
              <a:avLst/>
            </a:prstGeom>
          </p:spPr>
          <p:txBody>
            <a:bodyPr lIns="50800" tIns="50800" rIns="50800" bIns="50800" rtlCol="0" anchor="ctr"/>
            <a:lstStyle/>
            <a:p>
              <a:pPr algn="ctr">
                <a:lnSpc>
                  <a:spcPts val="3675"/>
                </a:lnSpc>
              </a:pPr>
              <a:endParaRPr/>
            </a:p>
          </p:txBody>
        </p:sp>
      </p:grpSp>
      <p:grpSp>
        <p:nvGrpSpPr>
          <p:cNvPr id="30" name="Group 30"/>
          <p:cNvGrpSpPr/>
          <p:nvPr/>
        </p:nvGrpSpPr>
        <p:grpSpPr>
          <a:xfrm>
            <a:off x="359854" y="11368959"/>
            <a:ext cx="9458883" cy="8898896"/>
            <a:chOff x="0" y="0"/>
            <a:chExt cx="1899610" cy="1787149"/>
          </a:xfrm>
        </p:grpSpPr>
        <p:sp>
          <p:nvSpPr>
            <p:cNvPr id="31" name="Freeform 31"/>
            <p:cNvSpPr/>
            <p:nvPr/>
          </p:nvSpPr>
          <p:spPr>
            <a:xfrm>
              <a:off x="0" y="0"/>
              <a:ext cx="1899610" cy="1787149"/>
            </a:xfrm>
            <a:custGeom>
              <a:avLst/>
              <a:gdLst/>
              <a:ahLst/>
              <a:cxnLst/>
              <a:rect l="l" t="t" r="r" b="b"/>
              <a:pathLst>
                <a:path w="1899610" h="1787149">
                  <a:moveTo>
                    <a:pt x="0" y="0"/>
                  </a:moveTo>
                  <a:lnTo>
                    <a:pt x="1899610" y="0"/>
                  </a:lnTo>
                  <a:lnTo>
                    <a:pt x="1899610" y="1787149"/>
                  </a:lnTo>
                  <a:lnTo>
                    <a:pt x="0" y="1787149"/>
                  </a:lnTo>
                  <a:close/>
                </a:path>
              </a:pathLst>
            </a:custGeom>
            <a:solidFill>
              <a:srgbClr val="FFFFFF"/>
            </a:solidFill>
            <a:ln cap="sq">
              <a:noFill/>
              <a:prstDash val="solid"/>
              <a:miter/>
            </a:ln>
          </p:spPr>
          <p:txBody>
            <a:bodyPr/>
            <a:lstStyle/>
            <a:p>
              <a:endParaRPr lang="zh-CN" altLang="en-US" dirty="0"/>
            </a:p>
          </p:txBody>
        </p:sp>
        <p:sp>
          <p:nvSpPr>
            <p:cNvPr id="32" name="TextBox 32"/>
            <p:cNvSpPr txBox="1"/>
            <p:nvPr/>
          </p:nvSpPr>
          <p:spPr>
            <a:xfrm>
              <a:off x="0" y="-95250"/>
              <a:ext cx="1899610" cy="1882399"/>
            </a:xfrm>
            <a:prstGeom prst="rect">
              <a:avLst/>
            </a:prstGeom>
          </p:spPr>
          <p:txBody>
            <a:bodyPr lIns="50800" tIns="50800" rIns="50800" bIns="50800" rtlCol="0" anchor="ctr"/>
            <a:lstStyle/>
            <a:p>
              <a:pPr marL="0" lvl="0" indent="0" algn="ctr">
                <a:lnSpc>
                  <a:spcPts val="3675"/>
                </a:lnSpc>
                <a:spcBef>
                  <a:spcPct val="0"/>
                </a:spcBef>
              </a:pPr>
              <a:endParaRPr/>
            </a:p>
          </p:txBody>
        </p:sp>
      </p:grpSp>
      <p:grpSp>
        <p:nvGrpSpPr>
          <p:cNvPr id="34" name="Group 34"/>
          <p:cNvGrpSpPr/>
          <p:nvPr/>
        </p:nvGrpSpPr>
        <p:grpSpPr>
          <a:xfrm>
            <a:off x="5086861" y="5402517"/>
            <a:ext cx="4699849" cy="619036"/>
            <a:chOff x="0" y="0"/>
            <a:chExt cx="943862" cy="124320"/>
          </a:xfrm>
        </p:grpSpPr>
        <p:sp>
          <p:nvSpPr>
            <p:cNvPr id="35" name="Freeform 35"/>
            <p:cNvSpPr/>
            <p:nvPr/>
          </p:nvSpPr>
          <p:spPr>
            <a:xfrm>
              <a:off x="0" y="0"/>
              <a:ext cx="943862" cy="124320"/>
            </a:xfrm>
            <a:custGeom>
              <a:avLst/>
              <a:gdLst/>
              <a:ahLst/>
              <a:cxnLst/>
              <a:rect l="l" t="t" r="r" b="b"/>
              <a:pathLst>
                <a:path w="943862" h="124320">
                  <a:moveTo>
                    <a:pt x="0" y="0"/>
                  </a:moveTo>
                  <a:lnTo>
                    <a:pt x="943862" y="0"/>
                  </a:lnTo>
                  <a:lnTo>
                    <a:pt x="943862" y="124320"/>
                  </a:lnTo>
                  <a:lnTo>
                    <a:pt x="0" y="124320"/>
                  </a:lnTo>
                  <a:close/>
                </a:path>
              </a:pathLst>
            </a:custGeom>
            <a:gradFill rotWithShape="1">
              <a:gsLst>
                <a:gs pos="0">
                  <a:srgbClr val="015ECE">
                    <a:alpha val="100000"/>
                  </a:srgbClr>
                </a:gs>
                <a:gs pos="50000">
                  <a:srgbClr val="0059AC">
                    <a:alpha val="100000"/>
                  </a:srgbClr>
                </a:gs>
                <a:gs pos="100000">
                  <a:srgbClr val="0E314E">
                    <a:alpha val="100000"/>
                  </a:srgbClr>
                </a:gs>
              </a:gsLst>
              <a:lin ang="0"/>
            </a:gradFill>
          </p:spPr>
          <p:txBody>
            <a:bodyPr/>
            <a:lstStyle/>
            <a:p>
              <a:endParaRPr lang="zh-CN" altLang="en-US"/>
            </a:p>
          </p:txBody>
        </p:sp>
        <p:sp>
          <p:nvSpPr>
            <p:cNvPr id="36" name="TextBox 36"/>
            <p:cNvSpPr txBox="1"/>
            <p:nvPr/>
          </p:nvSpPr>
          <p:spPr>
            <a:xfrm>
              <a:off x="0" y="-95250"/>
              <a:ext cx="943862" cy="219570"/>
            </a:xfrm>
            <a:prstGeom prst="rect">
              <a:avLst/>
            </a:prstGeom>
          </p:spPr>
          <p:txBody>
            <a:bodyPr lIns="50800" tIns="50800" rIns="50800" bIns="50800" rtlCol="0" anchor="ctr"/>
            <a:lstStyle/>
            <a:p>
              <a:pPr algn="ctr">
                <a:lnSpc>
                  <a:spcPts val="3675"/>
                </a:lnSpc>
              </a:pPr>
              <a:endParaRPr/>
            </a:p>
          </p:txBody>
        </p:sp>
      </p:grpSp>
      <p:grpSp>
        <p:nvGrpSpPr>
          <p:cNvPr id="37" name="Group 37"/>
          <p:cNvGrpSpPr/>
          <p:nvPr/>
        </p:nvGrpSpPr>
        <p:grpSpPr>
          <a:xfrm>
            <a:off x="9981806" y="5418194"/>
            <a:ext cx="4777509" cy="5716013"/>
            <a:chOff x="0" y="0"/>
            <a:chExt cx="959459" cy="1147937"/>
          </a:xfrm>
        </p:grpSpPr>
        <p:sp>
          <p:nvSpPr>
            <p:cNvPr id="38" name="Freeform 38"/>
            <p:cNvSpPr/>
            <p:nvPr/>
          </p:nvSpPr>
          <p:spPr>
            <a:xfrm>
              <a:off x="0" y="0"/>
              <a:ext cx="959459" cy="1147937"/>
            </a:xfrm>
            <a:custGeom>
              <a:avLst/>
              <a:gdLst/>
              <a:ahLst/>
              <a:cxnLst/>
              <a:rect l="l" t="t" r="r" b="b"/>
              <a:pathLst>
                <a:path w="959459" h="1147937">
                  <a:moveTo>
                    <a:pt x="0" y="0"/>
                  </a:moveTo>
                  <a:lnTo>
                    <a:pt x="959459" y="0"/>
                  </a:lnTo>
                  <a:lnTo>
                    <a:pt x="959459" y="1147937"/>
                  </a:lnTo>
                  <a:lnTo>
                    <a:pt x="0" y="1147937"/>
                  </a:lnTo>
                  <a:close/>
                </a:path>
              </a:pathLst>
            </a:custGeom>
            <a:solidFill>
              <a:srgbClr val="FFFFFF"/>
            </a:solidFill>
            <a:ln cap="sq">
              <a:noFill/>
              <a:prstDash val="solid"/>
              <a:miter/>
            </a:ln>
          </p:spPr>
          <p:txBody>
            <a:bodyPr/>
            <a:lstStyle/>
            <a:p>
              <a:endParaRPr lang="zh-CN" altLang="en-US"/>
            </a:p>
          </p:txBody>
        </p:sp>
        <p:sp>
          <p:nvSpPr>
            <p:cNvPr id="39" name="TextBox 39"/>
            <p:cNvSpPr txBox="1"/>
            <p:nvPr/>
          </p:nvSpPr>
          <p:spPr>
            <a:xfrm>
              <a:off x="0" y="-95250"/>
              <a:ext cx="959459" cy="1243187"/>
            </a:xfrm>
            <a:prstGeom prst="rect">
              <a:avLst/>
            </a:prstGeom>
          </p:spPr>
          <p:txBody>
            <a:bodyPr lIns="50800" tIns="50800" rIns="50800" bIns="50800" rtlCol="0" anchor="ctr"/>
            <a:lstStyle/>
            <a:p>
              <a:pPr marL="0" lvl="0" indent="0" algn="ctr">
                <a:lnSpc>
                  <a:spcPts val="3675"/>
                </a:lnSpc>
                <a:spcBef>
                  <a:spcPct val="0"/>
                </a:spcBef>
              </a:pPr>
              <a:endParaRPr/>
            </a:p>
          </p:txBody>
        </p:sp>
      </p:grpSp>
      <p:grpSp>
        <p:nvGrpSpPr>
          <p:cNvPr id="42" name="Group 42"/>
          <p:cNvGrpSpPr/>
          <p:nvPr/>
        </p:nvGrpSpPr>
        <p:grpSpPr>
          <a:xfrm>
            <a:off x="359854" y="11368959"/>
            <a:ext cx="9454013" cy="632625"/>
            <a:chOff x="0" y="0"/>
            <a:chExt cx="1898632" cy="127049"/>
          </a:xfrm>
        </p:grpSpPr>
        <p:sp>
          <p:nvSpPr>
            <p:cNvPr id="43" name="Freeform 43"/>
            <p:cNvSpPr/>
            <p:nvPr/>
          </p:nvSpPr>
          <p:spPr>
            <a:xfrm>
              <a:off x="0" y="0"/>
              <a:ext cx="1898632" cy="127049"/>
            </a:xfrm>
            <a:custGeom>
              <a:avLst/>
              <a:gdLst/>
              <a:ahLst/>
              <a:cxnLst/>
              <a:rect l="l" t="t" r="r" b="b"/>
              <a:pathLst>
                <a:path w="1898632" h="127049">
                  <a:moveTo>
                    <a:pt x="0" y="0"/>
                  </a:moveTo>
                  <a:lnTo>
                    <a:pt x="1898632" y="0"/>
                  </a:lnTo>
                  <a:lnTo>
                    <a:pt x="1898632" y="127049"/>
                  </a:lnTo>
                  <a:lnTo>
                    <a:pt x="0" y="127049"/>
                  </a:lnTo>
                  <a:close/>
                </a:path>
              </a:pathLst>
            </a:custGeom>
            <a:gradFill rotWithShape="1">
              <a:gsLst>
                <a:gs pos="0">
                  <a:srgbClr val="015ECE">
                    <a:alpha val="100000"/>
                  </a:srgbClr>
                </a:gs>
                <a:gs pos="50000">
                  <a:srgbClr val="0059AC">
                    <a:alpha val="100000"/>
                  </a:srgbClr>
                </a:gs>
                <a:gs pos="100000">
                  <a:srgbClr val="0E314E">
                    <a:alpha val="100000"/>
                  </a:srgbClr>
                </a:gs>
              </a:gsLst>
              <a:lin ang="0"/>
            </a:gradFill>
          </p:spPr>
          <p:txBody>
            <a:bodyPr/>
            <a:lstStyle/>
            <a:p>
              <a:endParaRPr lang="zh-CN" altLang="en-US"/>
            </a:p>
          </p:txBody>
        </p:sp>
        <p:sp>
          <p:nvSpPr>
            <p:cNvPr id="44" name="TextBox 44"/>
            <p:cNvSpPr txBox="1"/>
            <p:nvPr/>
          </p:nvSpPr>
          <p:spPr>
            <a:xfrm>
              <a:off x="0" y="-95250"/>
              <a:ext cx="1898632" cy="222299"/>
            </a:xfrm>
            <a:prstGeom prst="rect">
              <a:avLst/>
            </a:prstGeom>
          </p:spPr>
          <p:txBody>
            <a:bodyPr lIns="50800" tIns="50800" rIns="50800" bIns="50800" rtlCol="0" anchor="ctr"/>
            <a:lstStyle/>
            <a:p>
              <a:pPr algn="ctr">
                <a:lnSpc>
                  <a:spcPts val="3675"/>
                </a:lnSpc>
              </a:pPr>
              <a:endParaRPr/>
            </a:p>
          </p:txBody>
        </p:sp>
      </p:grpSp>
      <p:grpSp>
        <p:nvGrpSpPr>
          <p:cNvPr id="45" name="Group 45"/>
          <p:cNvGrpSpPr/>
          <p:nvPr/>
        </p:nvGrpSpPr>
        <p:grpSpPr>
          <a:xfrm>
            <a:off x="527219" y="14813014"/>
            <a:ext cx="362428" cy="362428"/>
            <a:chOff x="0" y="0"/>
            <a:chExt cx="483237" cy="483237"/>
          </a:xfrm>
        </p:grpSpPr>
        <p:grpSp>
          <p:nvGrpSpPr>
            <p:cNvPr id="46" name="Group 46"/>
            <p:cNvGrpSpPr/>
            <p:nvPr/>
          </p:nvGrpSpPr>
          <p:grpSpPr>
            <a:xfrm>
              <a:off x="0" y="0"/>
              <a:ext cx="483237" cy="483237"/>
              <a:chOff x="0" y="0"/>
              <a:chExt cx="812800" cy="812800"/>
            </a:xfrm>
          </p:grpSpPr>
          <p:sp>
            <p:nvSpPr>
              <p:cNvPr id="47" name="Freeform 4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ECE">
                      <a:alpha val="100000"/>
                    </a:srgbClr>
                  </a:gs>
                  <a:gs pos="50000">
                    <a:srgbClr val="0059AC">
                      <a:alpha val="100000"/>
                    </a:srgbClr>
                  </a:gs>
                  <a:gs pos="100000">
                    <a:srgbClr val="0E314E">
                      <a:alpha val="100000"/>
                    </a:srgbClr>
                  </a:gs>
                </a:gsLst>
                <a:lin ang="0"/>
              </a:gradFill>
            </p:spPr>
            <p:txBody>
              <a:bodyPr/>
              <a:lstStyle/>
              <a:p>
                <a:endParaRPr lang="zh-CN" altLang="en-US"/>
              </a:p>
            </p:txBody>
          </p:sp>
          <p:sp>
            <p:nvSpPr>
              <p:cNvPr id="48" name="TextBox 48"/>
              <p:cNvSpPr txBox="1"/>
              <p:nvPr/>
            </p:nvSpPr>
            <p:spPr>
              <a:xfrm>
                <a:off x="76200" y="28575"/>
                <a:ext cx="660400" cy="708025"/>
              </a:xfrm>
              <a:prstGeom prst="rect">
                <a:avLst/>
              </a:prstGeom>
            </p:spPr>
            <p:txBody>
              <a:bodyPr lIns="31579" tIns="31579" rIns="31579" bIns="31579" rtlCol="0" anchor="ctr"/>
              <a:lstStyle/>
              <a:p>
                <a:pPr algn="ctr">
                  <a:lnSpc>
                    <a:spcPts val="2940"/>
                  </a:lnSpc>
                </a:pPr>
                <a:endParaRPr/>
              </a:p>
            </p:txBody>
          </p:sp>
        </p:grpSp>
        <p:sp>
          <p:nvSpPr>
            <p:cNvPr id="49" name="TextBox 49"/>
            <p:cNvSpPr txBox="1"/>
            <p:nvPr/>
          </p:nvSpPr>
          <p:spPr>
            <a:xfrm>
              <a:off x="0" y="37161"/>
              <a:ext cx="483237" cy="357876"/>
            </a:xfrm>
            <a:prstGeom prst="rect">
              <a:avLst/>
            </a:prstGeom>
          </p:spPr>
          <p:txBody>
            <a:bodyPr lIns="0" tIns="0" rIns="0" bIns="0" rtlCol="0" anchor="t">
              <a:spAutoFit/>
            </a:bodyPr>
            <a:lstStyle/>
            <a:p>
              <a:pPr algn="ctr">
                <a:lnSpc>
                  <a:spcPts val="2430"/>
                </a:lnSpc>
                <a:spcBef>
                  <a:spcPct val="0"/>
                </a:spcBef>
              </a:pPr>
              <a:r>
                <a:rPr lang="en-US" sz="1735" dirty="0">
                  <a:solidFill>
                    <a:srgbClr val="FFFFFF"/>
                  </a:solidFill>
                  <a:latin typeface="黑体" panose="02010609060101010101" pitchFamily="49" charset="-122"/>
                  <a:ea typeface="黑体" panose="02010609060101010101" pitchFamily="49" charset="-122"/>
                  <a:cs typeface="字由点字典黑 1 Bold" panose="00020600040101010101" charset="-122"/>
                  <a:sym typeface="字由点字典黑 1 Bold" panose="00020600040101010101" charset="-122"/>
                </a:rPr>
                <a:t>01</a:t>
              </a:r>
            </a:p>
          </p:txBody>
        </p:sp>
      </p:grpSp>
      <p:grpSp>
        <p:nvGrpSpPr>
          <p:cNvPr id="50" name="Group 50"/>
          <p:cNvGrpSpPr/>
          <p:nvPr/>
        </p:nvGrpSpPr>
        <p:grpSpPr>
          <a:xfrm>
            <a:off x="484545" y="15745489"/>
            <a:ext cx="362428" cy="362428"/>
            <a:chOff x="0" y="0"/>
            <a:chExt cx="483237" cy="483237"/>
          </a:xfrm>
        </p:grpSpPr>
        <p:grpSp>
          <p:nvGrpSpPr>
            <p:cNvPr id="51" name="Group 51"/>
            <p:cNvGrpSpPr/>
            <p:nvPr/>
          </p:nvGrpSpPr>
          <p:grpSpPr>
            <a:xfrm>
              <a:off x="0" y="0"/>
              <a:ext cx="483237" cy="483237"/>
              <a:chOff x="0" y="0"/>
              <a:chExt cx="812800" cy="812800"/>
            </a:xfrm>
          </p:grpSpPr>
          <p:sp>
            <p:nvSpPr>
              <p:cNvPr id="52" name="Freeform 5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ECE">
                      <a:alpha val="100000"/>
                    </a:srgbClr>
                  </a:gs>
                  <a:gs pos="50000">
                    <a:srgbClr val="0059AC">
                      <a:alpha val="100000"/>
                    </a:srgbClr>
                  </a:gs>
                  <a:gs pos="100000">
                    <a:srgbClr val="0E314E">
                      <a:alpha val="100000"/>
                    </a:srgbClr>
                  </a:gs>
                </a:gsLst>
                <a:lin ang="0"/>
              </a:gradFill>
            </p:spPr>
            <p:txBody>
              <a:bodyPr/>
              <a:lstStyle/>
              <a:p>
                <a:endParaRPr lang="zh-CN" altLang="en-US"/>
              </a:p>
            </p:txBody>
          </p:sp>
          <p:sp>
            <p:nvSpPr>
              <p:cNvPr id="53" name="TextBox 53"/>
              <p:cNvSpPr txBox="1"/>
              <p:nvPr/>
            </p:nvSpPr>
            <p:spPr>
              <a:xfrm>
                <a:off x="76200" y="28575"/>
                <a:ext cx="660400" cy="708025"/>
              </a:xfrm>
              <a:prstGeom prst="rect">
                <a:avLst/>
              </a:prstGeom>
            </p:spPr>
            <p:txBody>
              <a:bodyPr lIns="31579" tIns="31579" rIns="31579" bIns="31579" rtlCol="0" anchor="ctr"/>
              <a:lstStyle/>
              <a:p>
                <a:pPr algn="ctr">
                  <a:lnSpc>
                    <a:spcPts val="2940"/>
                  </a:lnSpc>
                </a:pPr>
                <a:endParaRPr/>
              </a:p>
            </p:txBody>
          </p:sp>
        </p:grpSp>
        <p:sp>
          <p:nvSpPr>
            <p:cNvPr id="54" name="TextBox 54"/>
            <p:cNvSpPr txBox="1"/>
            <p:nvPr/>
          </p:nvSpPr>
          <p:spPr>
            <a:xfrm>
              <a:off x="0" y="37161"/>
              <a:ext cx="483237" cy="357876"/>
            </a:xfrm>
            <a:prstGeom prst="rect">
              <a:avLst/>
            </a:prstGeom>
          </p:spPr>
          <p:txBody>
            <a:bodyPr lIns="0" tIns="0" rIns="0" bIns="0" rtlCol="0" anchor="t">
              <a:spAutoFit/>
            </a:bodyPr>
            <a:lstStyle/>
            <a:p>
              <a:pPr algn="ctr">
                <a:lnSpc>
                  <a:spcPts val="2430"/>
                </a:lnSpc>
                <a:spcBef>
                  <a:spcPct val="0"/>
                </a:spcBef>
              </a:pPr>
              <a:r>
                <a:rPr lang="en-US" sz="1735" dirty="0">
                  <a:solidFill>
                    <a:srgbClr val="FFFFFF"/>
                  </a:solidFill>
                  <a:latin typeface="黑体" panose="02010609060101010101" pitchFamily="49" charset="-122"/>
                  <a:ea typeface="黑体" panose="02010609060101010101" pitchFamily="49" charset="-122"/>
                  <a:cs typeface="字由点字典黑 1 Bold" panose="00020600040101010101" charset="-122"/>
                  <a:sym typeface="字由点字典黑 1 Bold" panose="00020600040101010101" charset="-122"/>
                </a:rPr>
                <a:t>02</a:t>
              </a:r>
            </a:p>
          </p:txBody>
        </p:sp>
      </p:grpSp>
      <p:sp>
        <p:nvSpPr>
          <p:cNvPr id="66" name="TextBox 66"/>
          <p:cNvSpPr txBox="1"/>
          <p:nvPr/>
        </p:nvSpPr>
        <p:spPr>
          <a:xfrm>
            <a:off x="124355" y="1136633"/>
            <a:ext cx="9433817" cy="934487"/>
          </a:xfrm>
          <a:prstGeom prst="rect">
            <a:avLst/>
          </a:prstGeom>
        </p:spPr>
        <p:txBody>
          <a:bodyPr wrap="square" lIns="0" tIns="0" rIns="0" bIns="0" rtlCol="0" anchor="t">
            <a:spAutoFit/>
          </a:bodyPr>
          <a:lstStyle/>
          <a:p>
            <a:pPr>
              <a:lnSpc>
                <a:spcPts val="8000"/>
              </a:lnSpc>
            </a:pPr>
            <a:r>
              <a:rPr lang="en-US" altLang="zh-CN" sz="5000" b="1" spc="330" dirty="0" err="1">
                <a:solidFill>
                  <a:srgbClr val="FFFFFF"/>
                </a:solidFill>
                <a:latin typeface="Times New Roman" panose="02020603050405020304" pitchFamily="18" charset="0"/>
                <a:ea typeface="黑体" panose="02010609060101010101" pitchFamily="49" charset="-122"/>
                <a:cs typeface="Times New Roman" panose="02020603050405020304" pitchFamily="18" charset="0"/>
                <a:sym typeface="阿里巴巴普惠体 Medium" panose="00020600040101010101" charset="-122"/>
              </a:rPr>
              <a:t>Bioinformatics_Agent</a:t>
            </a:r>
            <a:endParaRPr lang="en-US" sz="5000" b="1" spc="330" dirty="0">
              <a:solidFill>
                <a:srgbClr val="FFFFFF"/>
              </a:solidFill>
              <a:latin typeface="Times New Roman" panose="02020603050405020304" pitchFamily="18" charset="0"/>
              <a:ea typeface="阿里巴巴普惠体 Medium" panose="00020600040101010101" charset="-122"/>
              <a:cs typeface="Times New Roman" panose="02020603050405020304" pitchFamily="18" charset="0"/>
              <a:sym typeface="阿里巴巴普惠体 Medium" panose="00020600040101010101" charset="-122"/>
            </a:endParaRPr>
          </a:p>
        </p:txBody>
      </p:sp>
      <p:sp>
        <p:nvSpPr>
          <p:cNvPr id="69" name="TextBox 69"/>
          <p:cNvSpPr txBox="1"/>
          <p:nvPr/>
        </p:nvSpPr>
        <p:spPr>
          <a:xfrm>
            <a:off x="10175091" y="12084189"/>
            <a:ext cx="4048064" cy="317844"/>
          </a:xfrm>
          <a:prstGeom prst="rect">
            <a:avLst/>
          </a:prstGeom>
        </p:spPr>
        <p:txBody>
          <a:bodyPr lIns="0" tIns="0" rIns="0" bIns="0" rtlCol="0" anchor="t">
            <a:spAutoFit/>
          </a:bodyPr>
          <a:lstStyle/>
          <a:p>
            <a:pPr marL="0" lvl="0" indent="0" algn="l">
              <a:lnSpc>
                <a:spcPts val="2880"/>
              </a:lnSpc>
            </a:pPr>
            <a:r>
              <a:rPr lang="en-US" sz="1800" b="1" spc="-27" dirty="0" err="1">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总结</a:t>
            </a:r>
            <a:endParaRPr lang="en-US" sz="1800" b="1" spc="-27" dirty="0">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endParaRPr>
          </a:p>
        </p:txBody>
      </p:sp>
      <p:sp>
        <p:nvSpPr>
          <p:cNvPr id="70" name="TextBox 70"/>
          <p:cNvSpPr txBox="1"/>
          <p:nvPr/>
        </p:nvSpPr>
        <p:spPr>
          <a:xfrm>
            <a:off x="10175091" y="12488049"/>
            <a:ext cx="4410690" cy="3345339"/>
          </a:xfrm>
          <a:prstGeom prst="rect">
            <a:avLst/>
          </a:prstGeom>
        </p:spPr>
        <p:txBody>
          <a:bodyPr lIns="0" tIns="0" rIns="0" bIns="0" rtlCol="0" anchor="t">
            <a:spAutoFit/>
          </a:bodyPr>
          <a:lstStyle/>
          <a:p>
            <a:pPr lvl="0" algn="just">
              <a:lnSpc>
                <a:spcPts val="2240"/>
              </a:lnSpc>
            </a:pP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本项目成功构建了一款端到端的生物医学文献智能分析 </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Agent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系统，完成了从自然语言研究问题输入到结构化文献综述报告输出的全链路自动化。</a:t>
            </a:r>
            <a:endPar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endPar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r>
              <a:rPr lang="zh-CN" altLang="en-US" sz="1400" b="1"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项目亮点</a:t>
            </a:r>
            <a:r>
              <a:rPr lang="en-US" altLang="zh-CN" sz="1400" b="1"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endParaRPr lang="zh-CN" altLang="en-US" sz="1400" b="1"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领域垂直深耕：针对生物医学场景定制术语引擎与检索模板，优于通用文献工具。</a:t>
            </a:r>
          </a:p>
          <a:p>
            <a:pPr lvl="0" algn="just">
              <a:lnSpc>
                <a:spcPts val="2240"/>
              </a:lnSpc>
            </a:pP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全流程透明化：</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Agent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每一步执行过程实时可见，增强了</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AI</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辅助科研的可信度。</a:t>
            </a:r>
          </a:p>
          <a:p>
            <a:pPr lvl="0" algn="just">
              <a:lnSpc>
                <a:spcPts val="2240"/>
              </a:lnSpc>
            </a:pP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结构化中间表示：先提取后对比的策略有效规避了</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LLM </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长文本处理中的信息遗漏。</a:t>
            </a:r>
            <a:endPar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endPar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p:txBody>
      </p:sp>
      <p:sp>
        <p:nvSpPr>
          <p:cNvPr id="71" name="TextBox 71"/>
          <p:cNvSpPr txBox="1"/>
          <p:nvPr/>
        </p:nvSpPr>
        <p:spPr>
          <a:xfrm>
            <a:off x="631469" y="20602123"/>
            <a:ext cx="11649431" cy="330219"/>
          </a:xfrm>
          <a:prstGeom prst="rect">
            <a:avLst/>
          </a:prstGeom>
        </p:spPr>
        <p:txBody>
          <a:bodyPr wrap="square" lIns="0" tIns="0" rIns="0" bIns="0" rtlCol="0" anchor="t">
            <a:spAutoFit/>
          </a:bodyPr>
          <a:lstStyle/>
          <a:p>
            <a:pPr marL="0" lvl="0" indent="0" algn="l">
              <a:lnSpc>
                <a:spcPts val="2880"/>
              </a:lnSpc>
            </a:pPr>
            <a:r>
              <a:rPr lang="en-US" sz="1800" b="1" dirty="0" err="1">
                <a:solidFill>
                  <a:srgbClr val="FFFFFF"/>
                </a:solidFill>
                <a:latin typeface="Times New Roman" panose="02020603050405020304" pitchFamily="18" charset="0"/>
                <a:ea typeface="黑体" panose="02010609060101010101" pitchFamily="49" charset="-122"/>
                <a:cs typeface="Times New Roman" panose="02020603050405020304" pitchFamily="18" charset="0"/>
                <a:sym typeface="字由点字典黑 1" panose="00020600040101010101" charset="-122"/>
              </a:rPr>
              <a:t>Github</a:t>
            </a:r>
            <a:r>
              <a:rPr lang="en-US" sz="1800" b="1" dirty="0" err="1">
                <a:solidFill>
                  <a:srgbClr val="FFFFFF"/>
                </a:solidFill>
                <a:latin typeface="黑体" panose="02010609060101010101" pitchFamily="49" charset="-122"/>
                <a:ea typeface="黑体" panose="02010609060101010101" pitchFamily="49" charset="-122"/>
                <a:cs typeface="字由点字典黑 1" panose="00020600040101010101" charset="-122"/>
                <a:sym typeface="字由点字典黑 1" panose="00020600040101010101" charset="-122"/>
              </a:rPr>
              <a:t>主页</a:t>
            </a:r>
            <a:r>
              <a:rPr lang="zh-CN" altLang="en-US" b="1" dirty="0">
                <a:solidFill>
                  <a:srgbClr val="FFFFFF"/>
                </a:solidFill>
                <a:latin typeface="黑体" panose="02010609060101010101" pitchFamily="49" charset="-122"/>
                <a:ea typeface="黑体" panose="02010609060101010101" pitchFamily="49" charset="-122"/>
                <a:cs typeface="字由点字典黑 1" panose="00020600040101010101" charset="-122"/>
                <a:sym typeface="字由点字典黑 1" panose="00020600040101010101" charset="-122"/>
              </a:rPr>
              <a:t>：</a:t>
            </a:r>
            <a:r>
              <a:rPr lang="en-US" sz="1800" b="1" dirty="0">
                <a:solidFill>
                  <a:srgbClr val="FFFFFF"/>
                </a:solidFill>
                <a:latin typeface="Times New Roman" panose="02020603050405020304" pitchFamily="18" charset="0"/>
                <a:ea typeface="黑体" panose="02010609060101010101" pitchFamily="49" charset="-122"/>
                <a:cs typeface="Times New Roman" panose="02020603050405020304" pitchFamily="18" charset="0"/>
                <a:sym typeface="字由点字典黑 1" panose="00020600040101010101" charset="-122"/>
              </a:rPr>
              <a:t>https://github.com/BeatGene/Bioinformatics_Agent</a:t>
            </a:r>
          </a:p>
        </p:txBody>
      </p:sp>
      <p:sp>
        <p:nvSpPr>
          <p:cNvPr id="72" name="TextBox 72"/>
          <p:cNvSpPr txBox="1"/>
          <p:nvPr/>
        </p:nvSpPr>
        <p:spPr>
          <a:xfrm>
            <a:off x="555520" y="2789188"/>
            <a:ext cx="5710202" cy="421269"/>
          </a:xfrm>
          <a:prstGeom prst="rect">
            <a:avLst/>
          </a:prstGeom>
        </p:spPr>
        <p:txBody>
          <a:bodyPr lIns="0" tIns="0" rIns="0" bIns="0" rtlCol="0" anchor="t">
            <a:spAutoFit/>
          </a:bodyPr>
          <a:lstStyle/>
          <a:p>
            <a:pPr marL="0" lvl="0" indent="0" algn="l">
              <a:lnSpc>
                <a:spcPts val="3675"/>
              </a:lnSpc>
            </a:pPr>
            <a:r>
              <a:rPr lang="en-US" sz="2295" b="1" spc="-34" dirty="0" err="1">
                <a:solidFill>
                  <a:srgbClr val="FFFFFF"/>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项目简介</a:t>
            </a:r>
            <a:r>
              <a:rPr lang="en-US" sz="2295" spc="-34" dirty="0">
                <a:solidFill>
                  <a:srgbClr val="FFFFFF"/>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 </a:t>
            </a:r>
            <a:r>
              <a:rPr lang="en-US" sz="2295" b="1" spc="-34" dirty="0">
                <a:solidFill>
                  <a:srgbClr val="FFFFFF"/>
                </a:solidFill>
                <a:latin typeface="Times New Roman" panose="02020603050405020304" pitchFamily="18" charset="0"/>
                <a:ea typeface="黑体" panose="02010609060101010101" pitchFamily="49" charset="-122"/>
                <a:cs typeface="Times New Roman" panose="02020603050405020304" pitchFamily="18" charset="0"/>
                <a:sym typeface="字由点字典黑 2 Bold" panose="00020600040101010101" charset="-122"/>
              </a:rPr>
              <a:t>Abstract</a:t>
            </a:r>
          </a:p>
        </p:txBody>
      </p:sp>
      <p:sp>
        <p:nvSpPr>
          <p:cNvPr id="73" name="TextBox 73"/>
          <p:cNvSpPr txBox="1"/>
          <p:nvPr/>
        </p:nvSpPr>
        <p:spPr>
          <a:xfrm>
            <a:off x="380050" y="3477140"/>
            <a:ext cx="14239980" cy="1382814"/>
          </a:xfrm>
          <a:prstGeom prst="rect">
            <a:avLst/>
          </a:prstGeom>
        </p:spPr>
        <p:txBody>
          <a:bodyPr wrap="square" lIns="0" tIns="0" rIns="0" bIns="0" rtlCol="0" anchor="t">
            <a:spAutoFit/>
          </a:bodyPr>
          <a:lstStyle/>
          <a:p>
            <a:pPr lvl="0" algn="just">
              <a:lnSpc>
                <a:spcPts val="2240"/>
              </a:lnSpc>
            </a:pPr>
            <a:r>
              <a:rPr lang="en-US" altLang="zh-CN" sz="1400" dirty="0">
                <a:solidFill>
                  <a:srgbClr val="000000"/>
                </a:solidFill>
                <a:latin typeface="黑体" panose="02010609060101010101" pitchFamily="49" charset="-122"/>
                <a:ea typeface="字由点字典黑 2 Light" panose="00020600040101010101" charset="-122"/>
                <a:cs typeface="字由点字典黑 2 Light" panose="00020600040101010101" charset="-122"/>
                <a:sym typeface="字由点字典黑 2 Light" panose="00020600040101010101" charset="-122"/>
              </a:rPr>
              <a:t>	</a:t>
            </a:r>
            <a:r>
              <a:rPr lang="zh-CN" altLang="en-US" sz="1400" dirty="0">
                <a:solidFill>
                  <a:srgbClr val="000000"/>
                </a:solidFill>
                <a:latin typeface="黑体" panose="02010609060101010101" pitchFamily="49" charset="-122"/>
                <a:ea typeface="字由点字典黑 2 Light" panose="00020600040101010101" charset="-122"/>
                <a:cs typeface="字由点字典黑 2 Light" panose="00020600040101010101" charset="-122"/>
                <a:sym typeface="字由点字典黑 2 Light" panose="00020600040101010101" charset="-122"/>
              </a:rPr>
              <a:t>这</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是一款面向生物医学领域的</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AI Agent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文献智能分析系统。针对科研人员在</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PubMed</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文献检索、精读与跨文献对比中面临的效率瓶颈，本项目基于</a:t>
            </a:r>
            <a:r>
              <a:rPr lang="en-US" altLang="zh-CN" sz="1400" dirty="0" err="1">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LangGraph</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多智能体框架，构建了“规划</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检索</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解析</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对比</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报告”五阶段自动化工作流。用户仅需输入自然语言研究问题，</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Agent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即可自动拆解任务、构建</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PubMed</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检索式、对检索到的文献逐篇提取</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17</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个结构化字段，并完成跨文献对比分析，最终生成来源可溯（标注</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PMID</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）的结构化文献综述报告。系统创新性地采用“先结构化、后对比”策略，内建生物医学术语验证引擎与文献质量评分机制，并通过</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SSE</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实时流式输出</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Agent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执行过程，实现了全流程透明可查的“白盒化”交互体验。项目直面生物医学科研中“全文阅读成本高、关键信息难定位、跨文献对比效率低”三大痛点，为科研人员提供了一站式的文献智能分析工具。</a:t>
            </a:r>
            <a:endParaRPr 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p:txBody>
      </p:sp>
      <p:grpSp>
        <p:nvGrpSpPr>
          <p:cNvPr id="74" name="Group 74"/>
          <p:cNvGrpSpPr/>
          <p:nvPr/>
        </p:nvGrpSpPr>
        <p:grpSpPr>
          <a:xfrm>
            <a:off x="484545" y="6131091"/>
            <a:ext cx="4240621" cy="1884240"/>
            <a:chOff x="0" y="-76200"/>
            <a:chExt cx="5654162" cy="2512320"/>
          </a:xfrm>
        </p:grpSpPr>
        <p:sp>
          <p:nvSpPr>
            <p:cNvPr id="75" name="TextBox 75"/>
            <p:cNvSpPr txBox="1"/>
            <p:nvPr/>
          </p:nvSpPr>
          <p:spPr>
            <a:xfrm>
              <a:off x="0" y="-76200"/>
              <a:ext cx="5654162" cy="436879"/>
            </a:xfrm>
            <a:prstGeom prst="rect">
              <a:avLst/>
            </a:prstGeom>
          </p:spPr>
          <p:txBody>
            <a:bodyPr lIns="0" tIns="0" rIns="0" bIns="0" rtlCol="0" anchor="t">
              <a:spAutoFit/>
            </a:bodyPr>
            <a:lstStyle/>
            <a:p>
              <a:pPr marL="0" lvl="0" indent="0" algn="l">
                <a:lnSpc>
                  <a:spcPts val="2880"/>
                </a:lnSpc>
              </a:pPr>
              <a:r>
                <a:rPr lang="en-US" sz="1800" b="1" spc="-27" dirty="0" err="1">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选题背景及意义</a:t>
              </a:r>
              <a:endParaRPr lang="en-US" sz="1800" b="1" spc="-27" dirty="0">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endParaRPr>
            </a:p>
          </p:txBody>
        </p:sp>
        <p:sp>
          <p:nvSpPr>
            <p:cNvPr id="76" name="TextBox 76"/>
            <p:cNvSpPr txBox="1"/>
            <p:nvPr/>
          </p:nvSpPr>
          <p:spPr>
            <a:xfrm>
              <a:off x="0" y="592368"/>
              <a:ext cx="5654162" cy="1843752"/>
            </a:xfrm>
            <a:prstGeom prst="rect">
              <a:avLst/>
            </a:prstGeom>
          </p:spPr>
          <p:txBody>
            <a:bodyPr lIns="0" tIns="0" rIns="0" bIns="0" rtlCol="0" anchor="t">
              <a:spAutoFit/>
            </a:bodyPr>
            <a:lstStyle/>
            <a:p>
              <a:pPr lvl="0" algn="just">
                <a:lnSpc>
                  <a:spcPts val="2240"/>
                </a:lnSpc>
              </a:pP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生物医学文献数量庞大且增长迅速，科研人员在文献调研中面临三大痛点：全文阅读成本高、关键信息难定位、跨文献对比困难。因此，开发一款能够理解自然语言意图、自动化执行文献检索与结构化解析的</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AI Agent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具有切实的科研赋能价值。</a:t>
              </a:r>
              <a:endParaRPr 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p:txBody>
        </p:sp>
      </p:grpSp>
      <p:grpSp>
        <p:nvGrpSpPr>
          <p:cNvPr id="78" name="Group 78"/>
          <p:cNvGrpSpPr/>
          <p:nvPr/>
        </p:nvGrpSpPr>
        <p:grpSpPr>
          <a:xfrm>
            <a:off x="484545" y="8290661"/>
            <a:ext cx="4170620" cy="2716656"/>
            <a:chOff x="0" y="-76200"/>
            <a:chExt cx="5560827" cy="3622206"/>
          </a:xfrm>
        </p:grpSpPr>
        <p:sp>
          <p:nvSpPr>
            <p:cNvPr id="79" name="TextBox 79"/>
            <p:cNvSpPr txBox="1"/>
            <p:nvPr/>
          </p:nvSpPr>
          <p:spPr>
            <a:xfrm>
              <a:off x="0" y="-76200"/>
              <a:ext cx="5560827" cy="395321"/>
            </a:xfrm>
            <a:prstGeom prst="rect">
              <a:avLst/>
            </a:prstGeom>
          </p:spPr>
          <p:txBody>
            <a:bodyPr lIns="0" tIns="0" rIns="0" bIns="0" rtlCol="0" anchor="t">
              <a:spAutoFit/>
            </a:bodyPr>
            <a:lstStyle/>
            <a:p>
              <a:pPr marL="0" lvl="0" indent="0" algn="l">
                <a:lnSpc>
                  <a:spcPts val="2720"/>
                </a:lnSpc>
              </a:pPr>
              <a:r>
                <a:rPr lang="en-US" sz="1700" b="1" spc="-25" dirty="0" err="1">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应用场景</a:t>
              </a:r>
              <a:endParaRPr lang="en-US" sz="1700" b="1" spc="-25" dirty="0">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endParaRPr>
            </a:p>
          </p:txBody>
        </p:sp>
        <p:sp>
          <p:nvSpPr>
            <p:cNvPr id="80" name="TextBox 80"/>
            <p:cNvSpPr txBox="1"/>
            <p:nvPr/>
          </p:nvSpPr>
          <p:spPr>
            <a:xfrm>
              <a:off x="0" y="573741"/>
              <a:ext cx="5560827" cy="2972265"/>
            </a:xfrm>
            <a:prstGeom prst="rect">
              <a:avLst/>
            </a:prstGeom>
          </p:spPr>
          <p:txBody>
            <a:bodyPr lIns="0" tIns="0" rIns="0" bIns="0" rtlCol="0" anchor="t">
              <a:spAutoFit/>
            </a:bodyPr>
            <a:lstStyle/>
            <a:p>
              <a:pPr lvl="0" algn="just">
                <a:lnSpc>
                  <a:spcPts val="2240"/>
                </a:lnSpc>
              </a:pP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目标用户：生物医学领域科研人员、硕士</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博士研究生、临床医生、药企研发人员。</a:t>
              </a:r>
            </a:p>
            <a:p>
              <a:pPr lvl="0" algn="just">
                <a:lnSpc>
                  <a:spcPts val="2240"/>
                </a:lnSpc>
              </a:pP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典型场景：系统性文献综述撰写、临床证据快速检索与评估、新药靶点调研、</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Meta</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分析文献筛选、跨适应症治疗方案对比。</a:t>
              </a:r>
            </a:p>
            <a:p>
              <a:pPr lvl="0" algn="just">
                <a:lnSpc>
                  <a:spcPts val="2240"/>
                </a:lnSpc>
              </a:pP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潜在应用方向：可扩展至循证医学决策支持、药物不良反应文献监测、基因</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疾病关联知识图谱自动构建等</a:t>
              </a:r>
            </a:p>
          </p:txBody>
        </p:sp>
      </p:grpSp>
      <p:sp>
        <p:nvSpPr>
          <p:cNvPr id="81" name="TextBox 81"/>
          <p:cNvSpPr txBox="1"/>
          <p:nvPr/>
        </p:nvSpPr>
        <p:spPr>
          <a:xfrm>
            <a:off x="380050" y="398085"/>
            <a:ext cx="10971087" cy="364780"/>
          </a:xfrm>
          <a:prstGeom prst="rect">
            <a:avLst/>
          </a:prstGeom>
        </p:spPr>
        <p:txBody>
          <a:bodyPr lIns="0" tIns="0" rIns="0" bIns="0" rtlCol="0" anchor="t">
            <a:spAutoFit/>
          </a:bodyPr>
          <a:lstStyle/>
          <a:p>
            <a:pPr algn="l">
              <a:lnSpc>
                <a:spcPts val="3200"/>
              </a:lnSpc>
            </a:pPr>
            <a:r>
              <a:rPr lang="en-US" sz="2000" i="1" spc="86" dirty="0" err="1">
                <a:solidFill>
                  <a:srgbClr val="FFFFFF"/>
                </a:solidFill>
                <a:latin typeface="黑体" panose="02010609060101010101" pitchFamily="49" charset="-122"/>
                <a:ea typeface="黑体" panose="02010609060101010101" pitchFamily="49" charset="-122"/>
                <a:cs typeface="字由点字典黑 2 Medium Italics" panose="00020600040101010101" charset="-122"/>
                <a:sym typeface="字由点字典黑 2 Medium Italics" panose="00020600040101010101" charset="-122"/>
              </a:rPr>
              <a:t>复旦大学“未来智造（</a:t>
            </a:r>
            <a:r>
              <a:rPr lang="en-US" sz="2000" i="1" spc="86" dirty="0" err="1">
                <a:solidFill>
                  <a:srgbClr val="FFFFFF"/>
                </a:solidFill>
                <a:latin typeface="Times New Roman" panose="02020603050405020304" pitchFamily="18" charset="0"/>
                <a:ea typeface="黑体" panose="02010609060101010101" pitchFamily="49" charset="-122"/>
                <a:cs typeface="Times New Roman" panose="02020603050405020304" pitchFamily="18" charset="0"/>
                <a:sym typeface="字由点字典黑 2 Medium Italics" panose="00020600040101010101" charset="-122"/>
              </a:rPr>
              <a:t>AI</a:t>
            </a:r>
            <a:r>
              <a:rPr lang="en-US" sz="2000" i="1" spc="86" dirty="0">
                <a:solidFill>
                  <a:srgbClr val="FFFFFF"/>
                </a:solidFill>
                <a:latin typeface="Times New Roman" panose="02020603050405020304" pitchFamily="18" charset="0"/>
                <a:ea typeface="黑体" panose="02010609060101010101" pitchFamily="49" charset="-122"/>
                <a:cs typeface="Times New Roman" panose="02020603050405020304" pitchFamily="18" charset="0"/>
                <a:sym typeface="字由点字典黑 2 Medium Italics" panose="00020600040101010101" charset="-122"/>
              </a:rPr>
              <a:t> </a:t>
            </a:r>
            <a:r>
              <a:rPr lang="en-US" sz="2000" i="1" spc="86" dirty="0" err="1">
                <a:solidFill>
                  <a:srgbClr val="FFFFFF"/>
                </a:solidFill>
                <a:latin typeface="Times New Roman" panose="02020603050405020304" pitchFamily="18" charset="0"/>
                <a:ea typeface="黑体" panose="02010609060101010101" pitchFamily="49" charset="-122"/>
                <a:cs typeface="Times New Roman" panose="02020603050405020304" pitchFamily="18" charset="0"/>
                <a:sym typeface="字由点字典黑 2 Medium Italics" panose="00020600040101010101" charset="-122"/>
              </a:rPr>
              <a:t>Agent</a:t>
            </a:r>
            <a:r>
              <a:rPr lang="en-US" sz="2000" i="1" spc="86" dirty="0" err="1">
                <a:solidFill>
                  <a:srgbClr val="FFFFFF"/>
                </a:solidFill>
                <a:latin typeface="黑体" panose="02010609060101010101" pitchFamily="49" charset="-122"/>
                <a:ea typeface="黑体" panose="02010609060101010101" pitchFamily="49" charset="-122"/>
                <a:cs typeface="字由点字典黑 2 Medium Italics" panose="00020600040101010101" charset="-122"/>
                <a:sym typeface="字由点字典黑 2 Medium Italics" panose="00020600040101010101" charset="-122"/>
              </a:rPr>
              <a:t>）工程师训练营</a:t>
            </a:r>
            <a:r>
              <a:rPr lang="en-US" sz="2000" i="1" spc="86" dirty="0">
                <a:solidFill>
                  <a:srgbClr val="FFFFFF"/>
                </a:solidFill>
                <a:latin typeface="黑体" panose="02010609060101010101" pitchFamily="49" charset="-122"/>
                <a:ea typeface="黑体" panose="02010609060101010101" pitchFamily="49" charset="-122"/>
                <a:cs typeface="字由点字典黑 2 Medium Italics" panose="00020600040101010101" charset="-122"/>
                <a:sym typeface="字由点字典黑 2 Medium Italics" panose="00020600040101010101" charset="-122"/>
              </a:rPr>
              <a:t>” </a:t>
            </a:r>
            <a:r>
              <a:rPr lang="en-US" sz="2000" i="1" spc="86" dirty="0" err="1">
                <a:solidFill>
                  <a:srgbClr val="FFFFFF"/>
                </a:solidFill>
                <a:latin typeface="黑体" panose="02010609060101010101" pitchFamily="49" charset="-122"/>
                <a:ea typeface="黑体" panose="02010609060101010101" pitchFamily="49" charset="-122"/>
                <a:cs typeface="字由点字典黑 2 Medium Italics" panose="00020600040101010101" charset="-122"/>
                <a:sym typeface="字由点字典黑 2 Medium Italics" panose="00020600040101010101" charset="-122"/>
              </a:rPr>
              <a:t>结题</a:t>
            </a:r>
            <a:endParaRPr lang="en-US" sz="2000" i="1" spc="86" dirty="0">
              <a:solidFill>
                <a:srgbClr val="FFFFFF"/>
              </a:solidFill>
              <a:latin typeface="黑体" panose="02010609060101010101" pitchFamily="49" charset="-122"/>
              <a:ea typeface="黑体" panose="02010609060101010101" pitchFamily="49" charset="-122"/>
              <a:cs typeface="字由点字典黑 2 Medium Italics" panose="00020600040101010101" charset="-122"/>
              <a:sym typeface="字由点字典黑 2 Medium Italics" panose="00020600040101010101" charset="-122"/>
            </a:endParaRPr>
          </a:p>
        </p:txBody>
      </p:sp>
      <p:grpSp>
        <p:nvGrpSpPr>
          <p:cNvPr id="82" name="Group 82"/>
          <p:cNvGrpSpPr/>
          <p:nvPr/>
        </p:nvGrpSpPr>
        <p:grpSpPr>
          <a:xfrm>
            <a:off x="5230470" y="6131091"/>
            <a:ext cx="4412630" cy="1319983"/>
            <a:chOff x="0" y="-76200"/>
            <a:chExt cx="5883506" cy="1759977"/>
          </a:xfrm>
        </p:grpSpPr>
        <p:sp>
          <p:nvSpPr>
            <p:cNvPr id="83" name="TextBox 83"/>
            <p:cNvSpPr txBox="1"/>
            <p:nvPr/>
          </p:nvSpPr>
          <p:spPr>
            <a:xfrm>
              <a:off x="0" y="-76200"/>
              <a:ext cx="5883506" cy="436879"/>
            </a:xfrm>
            <a:prstGeom prst="rect">
              <a:avLst/>
            </a:prstGeom>
          </p:spPr>
          <p:txBody>
            <a:bodyPr lIns="0" tIns="0" rIns="0" bIns="0" rtlCol="0" anchor="t">
              <a:spAutoFit/>
            </a:bodyPr>
            <a:lstStyle/>
            <a:p>
              <a:pPr marL="0" lvl="0" indent="0" algn="l">
                <a:lnSpc>
                  <a:spcPts val="2880"/>
                </a:lnSpc>
              </a:pPr>
              <a:r>
                <a:rPr lang="en-US" sz="1800" b="1" spc="-27" dirty="0" err="1">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数据来源</a:t>
              </a:r>
              <a:endParaRPr lang="en-US" sz="1800" b="1" spc="-27" dirty="0">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endParaRPr>
            </a:p>
          </p:txBody>
        </p:sp>
        <p:sp>
          <p:nvSpPr>
            <p:cNvPr id="84" name="TextBox 84"/>
            <p:cNvSpPr txBox="1"/>
            <p:nvPr/>
          </p:nvSpPr>
          <p:spPr>
            <a:xfrm>
              <a:off x="0" y="592368"/>
              <a:ext cx="5883506" cy="1091409"/>
            </a:xfrm>
            <a:prstGeom prst="rect">
              <a:avLst/>
            </a:prstGeom>
          </p:spPr>
          <p:txBody>
            <a:bodyPr lIns="0" tIns="0" rIns="0" bIns="0" rtlCol="0" anchor="t">
              <a:spAutoFit/>
            </a:bodyPr>
            <a:lstStyle/>
            <a:p>
              <a:pPr lvl="0" algn="just">
                <a:lnSpc>
                  <a:spcPts val="2240"/>
                </a:lnSpc>
              </a:pP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项目数据以</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PubMed</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学术文献数据库为核心。</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PDF</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全文解析采用</a:t>
              </a:r>
              <a:r>
                <a:rPr lang="en-US" altLang="zh-CN" sz="1400" dirty="0" err="1">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MinerU+PyMuPDF</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双引擎方案。辅助知识层包括自建的生物医学术语词典。</a:t>
              </a:r>
              <a:endParaRPr 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p:txBody>
        </p:sp>
      </p:grpSp>
      <p:grpSp>
        <p:nvGrpSpPr>
          <p:cNvPr id="85" name="Group 85"/>
          <p:cNvGrpSpPr/>
          <p:nvPr/>
        </p:nvGrpSpPr>
        <p:grpSpPr>
          <a:xfrm>
            <a:off x="5230470" y="8274985"/>
            <a:ext cx="4412630" cy="1317227"/>
            <a:chOff x="0" y="-76200"/>
            <a:chExt cx="5883506" cy="1756302"/>
          </a:xfrm>
        </p:grpSpPr>
        <p:sp>
          <p:nvSpPr>
            <p:cNvPr id="86" name="TextBox 86"/>
            <p:cNvSpPr txBox="1"/>
            <p:nvPr/>
          </p:nvSpPr>
          <p:spPr>
            <a:xfrm>
              <a:off x="0" y="-76200"/>
              <a:ext cx="5883506" cy="436879"/>
            </a:xfrm>
            <a:prstGeom prst="rect">
              <a:avLst/>
            </a:prstGeom>
          </p:spPr>
          <p:txBody>
            <a:bodyPr lIns="0" tIns="0" rIns="0" bIns="0" rtlCol="0" anchor="t">
              <a:spAutoFit/>
            </a:bodyPr>
            <a:lstStyle/>
            <a:p>
              <a:pPr marL="0" lvl="0" indent="0" algn="l">
                <a:lnSpc>
                  <a:spcPts val="2880"/>
                </a:lnSpc>
              </a:pPr>
              <a:r>
                <a:rPr lang="en-US" sz="1800" b="1" spc="-27" dirty="0" err="1">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研究工具</a:t>
              </a:r>
              <a:endParaRPr lang="en-US" sz="1800" b="1" spc="-27" dirty="0">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endParaRPr>
            </a:p>
          </p:txBody>
        </p:sp>
        <p:sp>
          <p:nvSpPr>
            <p:cNvPr id="87" name="TextBox 87"/>
            <p:cNvSpPr txBox="1"/>
            <p:nvPr/>
          </p:nvSpPr>
          <p:spPr>
            <a:xfrm>
              <a:off x="0" y="592368"/>
              <a:ext cx="5883506" cy="1087734"/>
            </a:xfrm>
            <a:prstGeom prst="rect">
              <a:avLst/>
            </a:prstGeom>
          </p:spPr>
          <p:txBody>
            <a:bodyPr lIns="0" tIns="0" rIns="0" bIns="0" rtlCol="0" anchor="t">
              <a:spAutoFit/>
            </a:bodyPr>
            <a:lstStyle/>
            <a:p>
              <a:pPr lvl="0" algn="just">
                <a:lnSpc>
                  <a:spcPts val="2240"/>
                </a:lnSpc>
              </a:pP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基于</a:t>
              </a:r>
              <a:r>
                <a:rPr lang="en-US" sz="1400" dirty="0" err="1">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LangGraph</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构建</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7</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节点</a:t>
              </a:r>
              <a:r>
                <a:rPr lang="en-US"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Agent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状态图，以大语言模型驱动任务规划、检索式生成、文献筛选、结构化提取与对比分析全流程；</a:t>
              </a:r>
              <a:r>
                <a:rPr lang="en-US"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API</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服务采用</a:t>
              </a:r>
              <a:r>
                <a:rPr lang="en-US" sz="1400" dirty="0" err="1">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FastAPI+SSE</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流式推送；</a:t>
              </a:r>
              <a:endParaRPr 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p:txBody>
        </p:sp>
      </p:grpSp>
      <p:sp>
        <p:nvSpPr>
          <p:cNvPr id="88" name="TextBox 88"/>
          <p:cNvSpPr txBox="1"/>
          <p:nvPr/>
        </p:nvSpPr>
        <p:spPr>
          <a:xfrm>
            <a:off x="484545" y="5454357"/>
            <a:ext cx="4170620" cy="435783"/>
          </a:xfrm>
          <a:prstGeom prst="rect">
            <a:avLst/>
          </a:prstGeom>
        </p:spPr>
        <p:txBody>
          <a:bodyPr lIns="0" tIns="0" rIns="0" bIns="0" rtlCol="0" anchor="t">
            <a:spAutoFit/>
          </a:bodyPr>
          <a:lstStyle/>
          <a:p>
            <a:pPr marL="0" lvl="0" indent="0" algn="l">
              <a:lnSpc>
                <a:spcPts val="3675"/>
              </a:lnSpc>
            </a:pPr>
            <a:r>
              <a:rPr lang="en-US" sz="2295" b="1" spc="-34" dirty="0" err="1">
                <a:solidFill>
                  <a:srgbClr val="FFFFFF"/>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引言</a:t>
            </a:r>
            <a:r>
              <a:rPr lang="en-US" sz="2295" spc="-34" dirty="0">
                <a:solidFill>
                  <a:srgbClr val="FFFFFF"/>
                </a:solidFill>
                <a:latin typeface="字由点字典黑 2 Bold" panose="00020600040101010101" charset="-122"/>
                <a:ea typeface="字由点字典黑 2 Bold" panose="00020600040101010101" charset="-122"/>
                <a:cs typeface="字由点字典黑 2 Bold" panose="00020600040101010101" charset="-122"/>
                <a:sym typeface="字由点字典黑 2 Bold" panose="00020600040101010101" charset="-122"/>
              </a:rPr>
              <a:t> </a:t>
            </a:r>
            <a:r>
              <a:rPr lang="en-US" sz="2295" b="1" spc="-34" dirty="0">
                <a:solidFill>
                  <a:srgbClr val="FFFFFF"/>
                </a:solidFill>
                <a:latin typeface="Times New Roman" panose="02020603050405020304" pitchFamily="18" charset="0"/>
                <a:ea typeface="字由点字典黑 2 Bold" panose="00020600040101010101" charset="-122"/>
                <a:cs typeface="Times New Roman" panose="02020603050405020304" pitchFamily="18" charset="0"/>
                <a:sym typeface="字由点字典黑 2 Bold" panose="00020600040101010101" charset="-122"/>
              </a:rPr>
              <a:t>Introduction</a:t>
            </a:r>
          </a:p>
        </p:txBody>
      </p:sp>
      <p:sp>
        <p:nvSpPr>
          <p:cNvPr id="89" name="TextBox 89"/>
          <p:cNvSpPr txBox="1"/>
          <p:nvPr/>
        </p:nvSpPr>
        <p:spPr>
          <a:xfrm>
            <a:off x="5211806" y="5446519"/>
            <a:ext cx="4170620" cy="435783"/>
          </a:xfrm>
          <a:prstGeom prst="rect">
            <a:avLst/>
          </a:prstGeom>
        </p:spPr>
        <p:txBody>
          <a:bodyPr lIns="0" tIns="0" rIns="0" bIns="0" rtlCol="0" anchor="t">
            <a:spAutoFit/>
          </a:bodyPr>
          <a:lstStyle/>
          <a:p>
            <a:pPr marL="0" lvl="0" indent="0" algn="l">
              <a:lnSpc>
                <a:spcPts val="3675"/>
              </a:lnSpc>
            </a:pPr>
            <a:r>
              <a:rPr lang="en-US" sz="2295" b="1" spc="-34" dirty="0" err="1">
                <a:solidFill>
                  <a:srgbClr val="FFFFFF"/>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工具</a:t>
            </a:r>
            <a:r>
              <a:rPr lang="en-US" sz="2295" spc="-34" dirty="0">
                <a:solidFill>
                  <a:srgbClr val="FFFFFF"/>
                </a:solidFill>
                <a:latin typeface="字由点字典黑 2 Bold" panose="00020600040101010101" charset="-122"/>
                <a:ea typeface="字由点字典黑 2 Bold" panose="00020600040101010101" charset="-122"/>
                <a:cs typeface="字由点字典黑 2 Bold" panose="00020600040101010101" charset="-122"/>
                <a:sym typeface="字由点字典黑 2 Bold" panose="00020600040101010101" charset="-122"/>
              </a:rPr>
              <a:t> </a:t>
            </a:r>
            <a:r>
              <a:rPr lang="en-US" sz="2295" b="1" spc="-34" dirty="0">
                <a:solidFill>
                  <a:srgbClr val="FFFFFF"/>
                </a:solidFill>
                <a:latin typeface="Times New Roman" panose="02020603050405020304" pitchFamily="18" charset="0"/>
                <a:ea typeface="字由点字典黑 2 Bold" panose="00020600040101010101" charset="-122"/>
                <a:cs typeface="Times New Roman" panose="02020603050405020304" pitchFamily="18" charset="0"/>
                <a:sym typeface="字由点字典黑 2 Bold" panose="00020600040101010101" charset="-122"/>
              </a:rPr>
              <a:t>Tools</a:t>
            </a:r>
          </a:p>
        </p:txBody>
      </p:sp>
      <p:sp>
        <p:nvSpPr>
          <p:cNvPr id="90" name="TextBox 90"/>
          <p:cNvSpPr txBox="1"/>
          <p:nvPr/>
        </p:nvSpPr>
        <p:spPr>
          <a:xfrm>
            <a:off x="10175091" y="11419755"/>
            <a:ext cx="4410690" cy="421269"/>
          </a:xfrm>
          <a:prstGeom prst="rect">
            <a:avLst/>
          </a:prstGeom>
        </p:spPr>
        <p:txBody>
          <a:bodyPr lIns="0" tIns="0" rIns="0" bIns="0" rtlCol="0" anchor="t">
            <a:spAutoFit/>
          </a:bodyPr>
          <a:lstStyle/>
          <a:p>
            <a:pPr marL="0" lvl="0" indent="0" algn="l">
              <a:lnSpc>
                <a:spcPts val="3675"/>
              </a:lnSpc>
            </a:pPr>
            <a:r>
              <a:rPr lang="en-US" sz="2295" b="1" spc="-34" dirty="0" err="1">
                <a:solidFill>
                  <a:srgbClr val="FFFFFF"/>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总结</a:t>
            </a:r>
            <a:r>
              <a:rPr lang="en-US" sz="2295" spc="-34" dirty="0">
                <a:solidFill>
                  <a:srgbClr val="FFFFFF"/>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 </a:t>
            </a:r>
            <a:r>
              <a:rPr lang="en-US" sz="2295" b="1" spc="-34" dirty="0">
                <a:solidFill>
                  <a:srgbClr val="FFFFFF"/>
                </a:solidFill>
                <a:latin typeface="Times New Roman" panose="02020603050405020304" pitchFamily="18" charset="0"/>
                <a:ea typeface="黑体" panose="02010609060101010101" pitchFamily="49" charset="-122"/>
                <a:cs typeface="Times New Roman" panose="02020603050405020304" pitchFamily="18" charset="0"/>
                <a:sym typeface="字由点字典黑 2 Bold" panose="00020600040101010101" charset="-122"/>
              </a:rPr>
              <a:t>Conclusion</a:t>
            </a:r>
          </a:p>
        </p:txBody>
      </p:sp>
      <p:sp>
        <p:nvSpPr>
          <p:cNvPr id="91" name="TextBox 91"/>
          <p:cNvSpPr txBox="1"/>
          <p:nvPr/>
        </p:nvSpPr>
        <p:spPr>
          <a:xfrm>
            <a:off x="10524000" y="7951010"/>
            <a:ext cx="3366019" cy="254300"/>
          </a:xfrm>
          <a:prstGeom prst="rect">
            <a:avLst/>
          </a:prstGeom>
        </p:spPr>
        <p:txBody>
          <a:bodyPr lIns="0" tIns="0" rIns="0" bIns="0" rtlCol="0" anchor="t">
            <a:spAutoFit/>
          </a:bodyPr>
          <a:lstStyle/>
          <a:p>
            <a:pPr marL="0" lvl="0" indent="0" algn="ctr">
              <a:lnSpc>
                <a:spcPts val="2240"/>
              </a:lnSpc>
            </a:pPr>
            <a:endParaRPr lang="en-US" sz="1400" dirty="0">
              <a:solidFill>
                <a:srgbClr val="000000"/>
              </a:solidFill>
              <a:latin typeface="字由点字典黑 2 Light" panose="00020600040101010101" charset="-122"/>
              <a:ea typeface="字由点字典黑 2 Light" panose="00020600040101010101" charset="-122"/>
              <a:cs typeface="字由点字典黑 2 Light" panose="00020600040101010101" charset="-122"/>
              <a:sym typeface="字由点字典黑 2 Light" panose="00020600040101010101" charset="-122"/>
            </a:endParaRPr>
          </a:p>
        </p:txBody>
      </p:sp>
      <p:sp>
        <p:nvSpPr>
          <p:cNvPr id="92" name="TextBox 92"/>
          <p:cNvSpPr txBox="1"/>
          <p:nvPr/>
        </p:nvSpPr>
        <p:spPr>
          <a:xfrm>
            <a:off x="10557534" y="10692712"/>
            <a:ext cx="3366019" cy="254300"/>
          </a:xfrm>
          <a:prstGeom prst="rect">
            <a:avLst/>
          </a:prstGeom>
        </p:spPr>
        <p:txBody>
          <a:bodyPr lIns="0" tIns="0" rIns="0" bIns="0" rtlCol="0" anchor="t">
            <a:spAutoFit/>
          </a:bodyPr>
          <a:lstStyle/>
          <a:p>
            <a:pPr marL="0" lvl="0" indent="0" algn="ctr">
              <a:lnSpc>
                <a:spcPts val="2240"/>
              </a:lnSpc>
            </a:pPr>
            <a:endParaRPr lang="en-US" sz="1400" dirty="0">
              <a:solidFill>
                <a:srgbClr val="000000"/>
              </a:solidFill>
              <a:latin typeface="字由点字典黑 2 Light" panose="00020600040101010101" charset="-122"/>
              <a:ea typeface="字由点字典黑 2 Light" panose="00020600040101010101" charset="-122"/>
              <a:cs typeface="字由点字典黑 2 Light" panose="00020600040101010101" charset="-122"/>
              <a:sym typeface="字由点字典黑 2 Light" panose="00020600040101010101" charset="-122"/>
            </a:endParaRPr>
          </a:p>
        </p:txBody>
      </p:sp>
      <p:sp>
        <p:nvSpPr>
          <p:cNvPr id="93" name="TextBox 93"/>
          <p:cNvSpPr txBox="1"/>
          <p:nvPr/>
        </p:nvSpPr>
        <p:spPr>
          <a:xfrm>
            <a:off x="555520" y="11432451"/>
            <a:ext cx="8481153" cy="435783"/>
          </a:xfrm>
          <a:prstGeom prst="rect">
            <a:avLst/>
          </a:prstGeom>
        </p:spPr>
        <p:txBody>
          <a:bodyPr lIns="0" tIns="0" rIns="0" bIns="0" rtlCol="0" anchor="t">
            <a:spAutoFit/>
          </a:bodyPr>
          <a:lstStyle/>
          <a:p>
            <a:pPr marL="0" lvl="0" indent="0" algn="l">
              <a:lnSpc>
                <a:spcPts val="3675"/>
              </a:lnSpc>
            </a:pPr>
            <a:r>
              <a:rPr lang="en-US" sz="2295" b="1" spc="-34" dirty="0" err="1">
                <a:solidFill>
                  <a:srgbClr val="FFFFFF"/>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研究方法与实验</a:t>
            </a:r>
            <a:r>
              <a:rPr lang="en-US" sz="2295" spc="-34" dirty="0">
                <a:solidFill>
                  <a:srgbClr val="FFFFFF"/>
                </a:solidFill>
                <a:latin typeface="字由点字典黑 2 Bold" panose="00020600040101010101" charset="-122"/>
                <a:ea typeface="字由点字典黑 2 Bold" panose="00020600040101010101" charset="-122"/>
                <a:cs typeface="字由点字典黑 2 Bold" panose="00020600040101010101" charset="-122"/>
                <a:sym typeface="字由点字典黑 2 Bold" panose="00020600040101010101" charset="-122"/>
              </a:rPr>
              <a:t> </a:t>
            </a:r>
            <a:r>
              <a:rPr lang="en-US" sz="2295" b="1" spc="-34" dirty="0">
                <a:solidFill>
                  <a:srgbClr val="FFFFFF"/>
                </a:solidFill>
                <a:latin typeface="Times New Roman" panose="02020603050405020304" pitchFamily="18" charset="0"/>
                <a:ea typeface="字由点字典黑 2 Bold" panose="00020600040101010101" charset="-122"/>
                <a:cs typeface="Times New Roman" panose="02020603050405020304" pitchFamily="18" charset="0"/>
                <a:sym typeface="字由点字典黑 2 Bold" panose="00020600040101010101" charset="-122"/>
              </a:rPr>
              <a:t>Methods &amp; Experiments</a:t>
            </a:r>
          </a:p>
        </p:txBody>
      </p:sp>
      <p:sp>
        <p:nvSpPr>
          <p:cNvPr id="94" name="TextBox 94"/>
          <p:cNvSpPr txBox="1"/>
          <p:nvPr/>
        </p:nvSpPr>
        <p:spPr>
          <a:xfrm>
            <a:off x="1087406" y="14792654"/>
            <a:ext cx="8506166" cy="524054"/>
          </a:xfrm>
          <a:prstGeom prst="rect">
            <a:avLst/>
          </a:prstGeom>
        </p:spPr>
        <p:txBody>
          <a:bodyPr wrap="square" lIns="0" tIns="0" rIns="0" bIns="0" rtlCol="0" anchor="t">
            <a:spAutoFit/>
          </a:bodyPr>
          <a:lstStyle/>
          <a:p>
            <a:pPr lvl="0" algn="just">
              <a:lnSpc>
                <a:spcPts val="2240"/>
              </a:lnSpc>
            </a:pP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系统采用“规划</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调度</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执行</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反馈”四层</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Agentic Workflow</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架构，将用户自然语言研究问题转化为结构化的多步骤文献分析流水线。</a:t>
            </a:r>
            <a:endParaRPr 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p:txBody>
      </p:sp>
      <p:sp>
        <p:nvSpPr>
          <p:cNvPr id="95" name="TextBox 95"/>
          <p:cNvSpPr txBox="1"/>
          <p:nvPr/>
        </p:nvSpPr>
        <p:spPr>
          <a:xfrm>
            <a:off x="932881" y="15818407"/>
            <a:ext cx="7884809" cy="4191725"/>
          </a:xfrm>
          <a:prstGeom prst="rect">
            <a:avLst/>
          </a:prstGeom>
        </p:spPr>
        <p:txBody>
          <a:bodyPr lIns="0" tIns="0" rIns="0" bIns="0" rtlCol="0" anchor="t">
            <a:spAutoFit/>
          </a:bodyPr>
          <a:lstStyle/>
          <a:p>
            <a:pPr lvl="0" algn="just">
              <a:lnSpc>
                <a:spcPts val="2240"/>
              </a:lnSpc>
            </a:pP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1.</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任务规划</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P</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LLM</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接收用户自然语言查询，将其拆解为</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4–7</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个子任务的</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DAG</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（有向无环图），子任务类型包括搜索、解析、对比和报告生成，定义任务间的依赖关系。</a:t>
            </a:r>
            <a:endPar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endPar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2.</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文献检索</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S</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：采用三级策略构建</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PubMed</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检索式</a:t>
            </a:r>
            <a:endPar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endPar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3.</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Human-in-the-Loop(R)</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：系统在检索完成后和对比分析前设置两个中断点，用户可审核检索结果、调整检索策略或手动选取文献，确保</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Agent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行为与用户意图对齐。</a:t>
            </a:r>
            <a:endPar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endPar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4.</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文献解析</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：由内建术语引擎进行字段验证与标注。</a:t>
            </a:r>
            <a:endPar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endPar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5.</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跨文献对比</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C</a:t>
            </a:r>
            <a:r>
              <a:rPr lang="zh-CN" altLang="en-US"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E</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：基于“先结构化，后对比”策略</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将每篇文献的结构化</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JSON</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数据构建为摘要卡片</a:t>
            </a:r>
            <a:endPar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endPar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6.</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报告生成</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T</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LLM</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汇总所有结构化数据与对比分析结果，生成包含研究背景综述、文献逐篇介绍、对比分析总表、结论与建议的结构化报告</a:t>
            </a:r>
            <a:endParaRPr 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p:txBody>
      </p:sp>
      <p:sp>
        <p:nvSpPr>
          <p:cNvPr id="96" name="TextBox 96"/>
          <p:cNvSpPr txBox="1"/>
          <p:nvPr/>
        </p:nvSpPr>
        <p:spPr>
          <a:xfrm>
            <a:off x="9663039" y="1544681"/>
            <a:ext cx="5512002" cy="351058"/>
          </a:xfrm>
          <a:prstGeom prst="rect">
            <a:avLst/>
          </a:prstGeom>
        </p:spPr>
        <p:txBody>
          <a:bodyPr wrap="square" lIns="0" tIns="0" rIns="0" bIns="0" rtlCol="0" anchor="t">
            <a:spAutoFit/>
          </a:bodyPr>
          <a:lstStyle/>
          <a:p>
            <a:pPr algn="l">
              <a:lnSpc>
                <a:spcPts val="3200"/>
              </a:lnSpc>
            </a:pPr>
            <a:r>
              <a:rPr lang="zh-CN" altLang="en-US" sz="2000" b="1" spc="132" dirty="0">
                <a:solidFill>
                  <a:srgbClr val="FFFFFF"/>
                </a:solidFill>
                <a:latin typeface="黑体" panose="02010609060101010101" pitchFamily="49" charset="-122"/>
                <a:ea typeface="黑体" panose="02010609060101010101" pitchFamily="49" charset="-122"/>
                <a:cs typeface="阿里巴巴普惠体 Medium" panose="00020600040101010101" charset="-122"/>
                <a:sym typeface="阿里巴巴普惠体 Medium" panose="00020600040101010101" charset="-122"/>
              </a:rPr>
              <a:t>彭希瑞 徐包原 钱逸峰 松格拉 康熙 夏庭浩</a:t>
            </a:r>
            <a:endParaRPr lang="en-US" sz="2000" b="1" spc="132" dirty="0">
              <a:solidFill>
                <a:srgbClr val="FFFFFF"/>
              </a:solidFill>
              <a:latin typeface="黑体" panose="02010609060101010101" pitchFamily="49" charset="-122"/>
              <a:ea typeface="黑体" panose="02010609060101010101" pitchFamily="49" charset="-122"/>
              <a:cs typeface="阿里巴巴普惠体 Medium" panose="00020600040101010101" charset="-122"/>
              <a:sym typeface="阿里巴巴普惠体 Medium" panose="00020600040101010101" charset="-122"/>
            </a:endParaRPr>
          </a:p>
        </p:txBody>
      </p:sp>
      <p:sp>
        <p:nvSpPr>
          <p:cNvPr id="100" name="TextBox 100"/>
          <p:cNvSpPr txBox="1"/>
          <p:nvPr/>
        </p:nvSpPr>
        <p:spPr>
          <a:xfrm>
            <a:off x="555520" y="14306398"/>
            <a:ext cx="933624" cy="317844"/>
          </a:xfrm>
          <a:prstGeom prst="rect">
            <a:avLst/>
          </a:prstGeom>
        </p:spPr>
        <p:txBody>
          <a:bodyPr lIns="0" tIns="0" rIns="0" bIns="0" rtlCol="0" anchor="t">
            <a:spAutoFit/>
          </a:bodyPr>
          <a:lstStyle/>
          <a:p>
            <a:pPr algn="l">
              <a:lnSpc>
                <a:spcPts val="2880"/>
              </a:lnSpc>
              <a:spcBef>
                <a:spcPct val="0"/>
              </a:spcBef>
            </a:pPr>
            <a:r>
              <a:rPr lang="en-US" sz="1800" b="1" spc="-26" dirty="0" err="1">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项目方法</a:t>
            </a:r>
            <a:endParaRPr lang="en-US" sz="1800" b="1" spc="-26" dirty="0">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endParaRPr>
          </a:p>
        </p:txBody>
      </p:sp>
      <p:sp>
        <p:nvSpPr>
          <p:cNvPr id="104" name="TextBox 104"/>
          <p:cNvSpPr txBox="1"/>
          <p:nvPr/>
        </p:nvSpPr>
        <p:spPr>
          <a:xfrm>
            <a:off x="9938622" y="16250981"/>
            <a:ext cx="1273959" cy="317844"/>
          </a:xfrm>
          <a:prstGeom prst="rect">
            <a:avLst/>
          </a:prstGeom>
        </p:spPr>
        <p:txBody>
          <a:bodyPr wrap="square" lIns="0" tIns="0" rIns="0" bIns="0" rtlCol="0" anchor="t">
            <a:spAutoFit/>
          </a:bodyPr>
          <a:lstStyle/>
          <a:p>
            <a:pPr algn="ctr">
              <a:lnSpc>
                <a:spcPts val="2880"/>
              </a:lnSpc>
              <a:spcBef>
                <a:spcPct val="0"/>
              </a:spcBef>
            </a:pPr>
            <a:r>
              <a:rPr lang="en-US" sz="1800" b="1" dirty="0" err="1">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rPr>
              <a:t>未来改进</a:t>
            </a:r>
            <a:endParaRPr lang="en-US" sz="1800" b="1" dirty="0">
              <a:solidFill>
                <a:srgbClr val="000000"/>
              </a:solidFill>
              <a:latin typeface="黑体" panose="02010609060101010101" pitchFamily="49" charset="-122"/>
              <a:ea typeface="黑体" panose="02010609060101010101" pitchFamily="49" charset="-122"/>
              <a:cs typeface="字由点字典黑 2 Bold" panose="00020600040101010101" charset="-122"/>
              <a:sym typeface="字由点字典黑 2 Bold" panose="00020600040101010101" charset="-122"/>
            </a:endParaRPr>
          </a:p>
        </p:txBody>
      </p:sp>
      <p:sp>
        <p:nvSpPr>
          <p:cNvPr id="105" name="TextBox 105"/>
          <p:cNvSpPr txBox="1"/>
          <p:nvPr/>
        </p:nvSpPr>
        <p:spPr>
          <a:xfrm>
            <a:off x="10155646" y="16663554"/>
            <a:ext cx="4324189" cy="3063211"/>
          </a:xfrm>
          <a:prstGeom prst="rect">
            <a:avLst/>
          </a:prstGeom>
        </p:spPr>
        <p:txBody>
          <a:bodyPr lIns="0" tIns="0" rIns="0" bIns="0" rtlCol="0" anchor="t">
            <a:spAutoFit/>
          </a:bodyPr>
          <a:lstStyle/>
          <a:p>
            <a:pPr lvl="0" algn="just">
              <a:lnSpc>
                <a:spcPts val="2240"/>
              </a:lnSpc>
            </a:pP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方向：功能完善</a:t>
            </a:r>
          </a:p>
          <a:p>
            <a:pPr lvl="0" algn="just">
              <a:lnSpc>
                <a:spcPts val="2240"/>
              </a:lnSpc>
            </a:pP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具体内容</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 </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接入</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PMC</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全文</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PDF</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下载与解析流水线，实现真正的图表级原文对照；完善术语知识库（靶点</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突变</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药物分类词典数据填充）</a:t>
            </a:r>
            <a:endPar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endPar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方向：场景拓展</a:t>
            </a:r>
          </a:p>
          <a:p>
            <a:pPr lvl="0" algn="just">
              <a:lnSpc>
                <a:spcPts val="2240"/>
              </a:lnSpc>
            </a:pP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具体内容：增加用户本地</a:t>
            </a:r>
            <a:r>
              <a:rPr lang="en-US" altLang="zh-CN" sz="14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sym typeface="字由点字典黑 2 Light" panose="00020600040101010101" charset="-122"/>
              </a:rPr>
              <a:t>PDF</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上传解析功能</a:t>
            </a:r>
            <a:endPar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endPar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a:p>
            <a:pPr lvl="0" algn="just">
              <a:lnSpc>
                <a:spcPts val="2240"/>
              </a:lnSpc>
            </a:pP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方向：模型能力升级</a:t>
            </a:r>
          </a:p>
          <a:p>
            <a:pPr lvl="0" algn="just">
              <a:lnSpc>
                <a:spcPts val="2240"/>
              </a:lnSpc>
            </a:pP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具体内容：支持多模型切换；引入多</a:t>
            </a:r>
            <a:r>
              <a:rPr lang="en-US" altLang="zh-CN"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Agent</a:t>
            </a:r>
            <a:r>
              <a:rPr lang="zh-CN" alt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rPr>
              <a:t>辩论机制提升分析深度</a:t>
            </a:r>
            <a:endParaRPr lang="en-US" sz="1400" dirty="0">
              <a:solidFill>
                <a:srgbClr val="000000"/>
              </a:solidFill>
              <a:latin typeface="黑体" panose="02010609060101010101" pitchFamily="49" charset="-122"/>
              <a:ea typeface="黑体" panose="02010609060101010101" pitchFamily="49" charset="-122"/>
              <a:cs typeface="字由点字典黑 2 Light" panose="00020600040101010101" charset="-122"/>
              <a:sym typeface="字由点字典黑 2 Light" panose="00020600040101010101" charset="-122"/>
            </a:endParaRPr>
          </a:p>
        </p:txBody>
      </p:sp>
      <p:pic>
        <p:nvPicPr>
          <p:cNvPr id="107" name="图片 106">
            <a:extLst>
              <a:ext uri="{FF2B5EF4-FFF2-40B4-BE49-F238E27FC236}">
                <a16:creationId xmlns:a16="http://schemas.microsoft.com/office/drawing/2014/main" id="{E6B4B593-D257-1B11-7C36-717920040907}"/>
              </a:ext>
            </a:extLst>
          </p:cNvPr>
          <p:cNvPicPr>
            <a:picLocks noChangeAspect="1"/>
          </p:cNvPicPr>
          <p:nvPr/>
        </p:nvPicPr>
        <p:blipFill>
          <a:blip r:embed="rId4"/>
          <a:stretch>
            <a:fillRect/>
          </a:stretch>
        </p:blipFill>
        <p:spPr>
          <a:xfrm>
            <a:off x="484545" y="12138485"/>
            <a:ext cx="9207810" cy="2016525"/>
          </a:xfrm>
          <a:prstGeom prst="rect">
            <a:avLst/>
          </a:prstGeom>
        </p:spPr>
      </p:pic>
      <p:pic>
        <p:nvPicPr>
          <p:cNvPr id="109" name="图片 108">
            <a:extLst>
              <a:ext uri="{FF2B5EF4-FFF2-40B4-BE49-F238E27FC236}">
                <a16:creationId xmlns:a16="http://schemas.microsoft.com/office/drawing/2014/main" id="{6718FAD6-8F41-6E31-10D1-73A3DF370FF9}"/>
              </a:ext>
            </a:extLst>
          </p:cNvPr>
          <p:cNvPicPr>
            <a:picLocks noChangeAspect="1"/>
          </p:cNvPicPr>
          <p:nvPr/>
        </p:nvPicPr>
        <p:blipFill>
          <a:blip r:embed="rId5"/>
          <a:stretch>
            <a:fillRect/>
          </a:stretch>
        </p:blipFill>
        <p:spPr>
          <a:xfrm>
            <a:off x="10116635" y="6620167"/>
            <a:ext cx="4527601" cy="340617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180</TotalTime>
  <Words>915</Words>
  <Application>Microsoft Office PowerPoint</Application>
  <PresentationFormat>自定义</PresentationFormat>
  <Paragraphs>53</Paragraphs>
  <Slides>1</Slides>
  <Notes>1</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vt:i4>
      </vt:variant>
    </vt:vector>
  </HeadingPairs>
  <TitlesOfParts>
    <vt:vector size="9" baseType="lpstr">
      <vt:lpstr>Arial</vt:lpstr>
      <vt:lpstr>等线</vt:lpstr>
      <vt:lpstr>字由点字典黑 2 Bold</vt:lpstr>
      <vt:lpstr>Calibri</vt:lpstr>
      <vt:lpstr>字由点字典黑 2 Light</vt:lpstr>
      <vt:lpstr>黑体</vt:lpstr>
      <vt:lpstr>Times New Roman</vt:lpstr>
      <vt:lpstr>Office Theme</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Agent结题海报</dc:title>
  <dc:creator/>
  <cp:lastModifiedBy>庭浩 夏</cp:lastModifiedBy>
  <cp:revision>63</cp:revision>
  <dcterms:created xsi:type="dcterms:W3CDTF">2006-08-16T00:00:00Z</dcterms:created>
  <dcterms:modified xsi:type="dcterms:W3CDTF">2026-07-13T08:56:36Z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{"Label":"1","ContentProducer":"001191110105MA01AN806X00000","ProduceID":"DAHOBITszDA","ReservedCode1":"","ContentPropagator":"001191110105MA01AN806X00000","PropagateID":"DAHOBITszDA","ReservedCode2":""}</vt:lpwstr>
  </property>
  <property fmtid="{D5CDD505-2E9C-101B-9397-08002B2CF9AE}" pid="3" name="KSOProductBuildVer">
    <vt:lpwstr>2052-12.1.0.26375</vt:lpwstr>
  </property>
  <property fmtid="{D5CDD505-2E9C-101B-9397-08002B2CF9AE}" pid="4" name="ICV">
    <vt:lpwstr>E8B5763A5A424A07A8CDBE7D9C8DDD7E_12</vt:lpwstr>
  </property>
</Properties>
</file>