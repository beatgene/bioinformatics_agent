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0" r:id="rId11"/>
    <p:sldId id="277" r:id="rId12"/>
    <p:sldId id="278" r:id="rId13"/>
    <p:sldId id="276" r:id="rId14"/>
    <p:sldId id="265" r:id="rId15"/>
    <p:sldId id="266" r:id="rId16"/>
    <p:sldId id="267" r:id="rId17"/>
    <p:sldId id="268" r:id="rId18"/>
    <p:sldId id="271" r:id="rId19"/>
    <p:sldId id="269" r:id="rId20"/>
    <p:sldId id="274" r:id="rId21"/>
    <p:sldId id="272" r:id="rId22"/>
    <p:sldId id="275" r:id="rId23"/>
  </p:sldIdLst>
  <p:sldSz cx="12192000" cy="6858000"/>
  <p:notesSz cx="6858000" cy="9144000"/>
  <p:custDataLst>
    <p:tags r:id="rId2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8327" autoAdjust="0"/>
  </p:normalViewPr>
  <p:slideViewPr>
    <p:cSldViewPr snapToGrid="0">
      <p:cViewPr varScale="1">
        <p:scale>
          <a:sx n="126" d="100"/>
          <a:sy n="126" d="100"/>
        </p:scale>
        <p:origin x="140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A3113A-A8F2-41E1-BE9A-B655091E6EC1}" type="datetimeFigureOut">
              <a:rPr lang="zh-CN" altLang="en-US" smtClean="0"/>
              <a:t>2026/7/13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498E8F-0E88-4000-8EEC-96D622E5BC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5147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/>
              <a:t>ToDo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498E8F-0E88-4000-8EEC-96D622E5BCA8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7155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E645CD-5A42-B747-BFAE-8BE3C81C3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7E840B9-39AA-D0F1-885D-257D85AA55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09C1A1A-3C84-7B4C-A17D-17AA222272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/>
              <a:t>ToDo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7B78025-965E-3DF8-910E-452F52919D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498E8F-0E88-4000-8EEC-96D622E5BCA8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27900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P:planner   S:search  R:review_search   A:parse  C:compare  T:report  E:review_results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498E8F-0E88-4000-8EEC-96D622E5BCA8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63240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BA6054-3D95-33A9-6F9D-A0E57CFC72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9C9EBF2-56BF-106F-A3DD-E81B03649A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D35145B-6B5E-ADCB-370A-B903B869B0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/>
              <a:t>ToDo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690CC78-620E-E69E-A29A-0BAAD31BED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498E8F-0E88-4000-8EEC-96D622E5BCA8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02912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 err="1"/>
              <a:t>ToDo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498E8F-0E88-4000-8EEC-96D622E5BCA8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46635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702EC2-9ED2-44E7-B8B2-FA3AEED63E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1410896-6A8D-7B8C-4169-6004B2F959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60E1D6D-0135-36EE-55E3-D4E4B31A9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18217-8E16-49AE-98DB-91CE6F89811F}" type="datetimeFigureOut">
              <a:rPr lang="zh-CN" altLang="en-US" smtClean="0"/>
              <a:t>2026/7/13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0463B21-4C36-2663-4320-D632F71DC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83E0F3D-2541-25EA-5469-C6EC54ADE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09AAA-1843-44C7-8C31-D7AC280EB2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64982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BFCB2D-793F-11D7-D772-5DC983F30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E8743AA-92CF-63C1-D7FD-BA294F438D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F24BE13-D695-56E0-4628-D23DC7BF3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18217-8E16-49AE-98DB-91CE6F89811F}" type="datetimeFigureOut">
              <a:rPr lang="zh-CN" altLang="en-US" smtClean="0"/>
              <a:t>2026/7/13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9B158B9-8E02-FF8B-E30E-674813F0D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A237677-F581-F57F-22B3-19FBC9B43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09AAA-1843-44C7-8C31-D7AC280EB2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3333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AFCF8F-3C28-EC6A-40EB-759AE0003A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E16314E-F9BC-CE97-444C-FCF5A09CD9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AB06B6A-11BB-303A-6B0C-D81E1F4AC1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18217-8E16-49AE-98DB-91CE6F89811F}" type="datetimeFigureOut">
              <a:rPr lang="zh-CN" altLang="en-US" smtClean="0"/>
              <a:t>2026/7/13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13AE548-7987-978A-5BCB-EB37C9AEF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CB68274-2EDF-E056-F9C6-0C0C9A268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09AAA-1843-44C7-8C31-D7AC280EB2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93434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11040A-9933-2324-45D4-1E5A6972B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24727AB-DFF8-2D19-06A9-EA3C63E13F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E735C9F-F034-081C-5E69-9EB16EB385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C691809-D47E-06BF-127C-C75B27D57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18217-8E16-49AE-98DB-91CE6F89811F}" type="datetimeFigureOut">
              <a:rPr lang="zh-CN" altLang="en-US" smtClean="0"/>
              <a:t>2026/7/13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F5B4E26-1E8A-40FB-9715-BBA56EEE4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667B68B-0967-E4EC-132A-0CB0F12AC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09AAA-1843-44C7-8C31-D7AC280EB2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99338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057453-F329-DF4F-F113-3F15D745AF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ACCD3F1-AA0C-D7AE-BDD4-75C8009E5D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D7E8985-0663-A65B-2EF1-2D7F2962C7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C334C22-A16E-FBC3-EB9A-3A879E21F2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0C15E8D-088F-91F3-D8A4-913258DCE2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46FABDC-2D74-BC02-8849-50CD570696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18217-8E16-49AE-98DB-91CE6F89811F}" type="datetimeFigureOut">
              <a:rPr lang="zh-CN" altLang="en-US" smtClean="0"/>
              <a:t>2026/7/13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13A18EF-5D73-F7E4-B6AF-FFAB62B21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608FC48-5819-498B-A06D-53178183B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09AAA-1843-44C7-8C31-D7AC280EB2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27019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A00C42-F821-F57C-AF6C-2859A013D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24F08F1-49E4-65DC-AB04-EC92BBA03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18217-8E16-49AE-98DB-91CE6F89811F}" type="datetimeFigureOut">
              <a:rPr lang="zh-CN" altLang="en-US" smtClean="0"/>
              <a:t>2026/7/13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D143B02-A4EC-0C54-61D0-5F3A309C8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42E3A0C-D998-DC51-39AF-2B6B39309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09AAA-1843-44C7-8C31-D7AC280EB2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01401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2C7DF5F-B28E-B57E-0A47-EE34D602D3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18217-8E16-49AE-98DB-91CE6F89811F}" type="datetimeFigureOut">
              <a:rPr lang="zh-CN" altLang="en-US" smtClean="0"/>
              <a:t>2026/7/13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D44EF15-C6B9-4CD2-5209-201690E96C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A450BDF-9D35-F3EB-C1F2-CDBDB014D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09AAA-1843-44C7-8C31-D7AC280EB2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47659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DB66DA-3906-6051-DC53-DA3A37541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4F4B2DC-0224-E688-2473-966BAF30E1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AA0B183-5C33-1C3E-7164-5D8606DE4B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D8285AA-66D5-6920-84DD-654B5B17B9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18217-8E16-49AE-98DB-91CE6F89811F}" type="datetimeFigureOut">
              <a:rPr lang="zh-CN" altLang="en-US" smtClean="0"/>
              <a:t>2026/7/13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F105ADA-FE01-2235-599C-A9F5A34B5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978700A-8FD0-9A61-B4EB-AD127B97A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09AAA-1843-44C7-8C31-D7AC280EB2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48109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8D257D-2C01-8B96-1240-530AB509B3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B3C4587-3F93-3224-E4E3-71BBA841CD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4B56936-3CD9-63CF-6459-DAE3E66791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3BFCEBE-14CE-923A-8166-9C528E645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18217-8E16-49AE-98DB-91CE6F89811F}" type="datetimeFigureOut">
              <a:rPr lang="zh-CN" altLang="en-US" smtClean="0"/>
              <a:t>2026/7/13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D28CBE8-6F8D-2A86-3C2E-C772A2C3D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BCE5032-5726-EF72-AB78-7B1B2BB66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09AAA-1843-44C7-8C31-D7AC280EB2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07939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E141DC-064C-8264-CF74-92AA98E90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C9AD63B-C158-31B7-BAB5-047458B9DB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BC1860A-5892-C741-67D7-938C5C96B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18217-8E16-49AE-98DB-91CE6F89811F}" type="datetimeFigureOut">
              <a:rPr lang="zh-CN" altLang="en-US" smtClean="0"/>
              <a:t>2026/7/13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ACF8B79-F39C-55DE-5E2F-3EA4DCBAB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C900DAD-CB20-720C-BCE0-990D970B6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09AAA-1843-44C7-8C31-D7AC280EB2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94894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F445B8B-2E86-AB3F-E2F5-A8F5B92C66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3F49070-15AC-CF71-DCEE-DB0ECC9546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0E268F8-42FC-97EA-FDF4-F6A829C46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18217-8E16-49AE-98DB-91CE6F89811F}" type="datetimeFigureOut">
              <a:rPr lang="zh-CN" altLang="en-US" smtClean="0"/>
              <a:t>2026/7/13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99665BC-CCA6-1B6A-C0B0-B5E0372123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B7E8945-F853-6D91-6CCF-AC3DAC04C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09AAA-1843-44C7-8C31-D7AC280EB2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38421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C1DAA35-0EC2-8640-9DAE-89DEEDF8C2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52A2C3F-017B-B042-B449-CF3E9D89B9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0B7DCDA-98C6-AA68-74A3-3484411AB3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418217-8E16-49AE-98DB-91CE6F89811F}" type="datetimeFigureOut">
              <a:rPr lang="zh-CN" altLang="en-US" smtClean="0"/>
              <a:t>2026/7/13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A8E3C62-4936-EDAD-751D-D23940FA92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2EA6A1F-A089-7E02-C7D4-AF7F7B4E7A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B09AAA-1843-44C7-8C31-D7AC280EB2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85176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A0592D-680D-3D86-A541-87E164984AC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CN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Bioinformatics_Agent_Architecture</a:t>
            </a:r>
            <a:endParaRPr lang="zh-CN" alt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8CDC6C8-6FFC-AA3B-774E-076DFA46BD9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45555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形 4" descr="用户 纯色填充">
            <a:extLst>
              <a:ext uri="{FF2B5EF4-FFF2-40B4-BE49-F238E27FC236}">
                <a16:creationId xmlns:a16="http://schemas.microsoft.com/office/drawing/2014/main" id="{8EB400D1-7A9C-F5A0-C004-AFD2A89F9B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20152" y="2638372"/>
            <a:ext cx="914400" cy="914400"/>
          </a:xfrm>
          <a:prstGeom prst="rect">
            <a:avLst/>
          </a:prstGeom>
        </p:spPr>
      </p:pic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E2221E59-FCF5-FEC7-6336-C4F96CE4B084}"/>
              </a:ext>
            </a:extLst>
          </p:cNvPr>
          <p:cNvCxnSpPr/>
          <p:nvPr/>
        </p:nvCxnSpPr>
        <p:spPr>
          <a:xfrm>
            <a:off x="1288243" y="3095572"/>
            <a:ext cx="121751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B447B6FC-1FA2-E928-39D8-1EF63DE04037}"/>
              </a:ext>
            </a:extLst>
          </p:cNvPr>
          <p:cNvSpPr txBox="1"/>
          <p:nvPr/>
        </p:nvSpPr>
        <p:spPr>
          <a:xfrm>
            <a:off x="1664612" y="2726240"/>
            <a:ext cx="4647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图形 9" descr="机器人 纯色填充">
            <a:extLst>
              <a:ext uri="{FF2B5EF4-FFF2-40B4-BE49-F238E27FC236}">
                <a16:creationId xmlns:a16="http://schemas.microsoft.com/office/drawing/2014/main" id="{37EC01A9-137A-C0FB-7AA3-EC896217B92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05759" y="2638372"/>
            <a:ext cx="914400" cy="914400"/>
          </a:xfrm>
          <a:prstGeom prst="rect">
            <a:avLst/>
          </a:prstGeom>
        </p:spPr>
      </p:pic>
      <p:cxnSp>
        <p:nvCxnSpPr>
          <p:cNvPr id="12" name="连接符: 肘形 11">
            <a:extLst>
              <a:ext uri="{FF2B5EF4-FFF2-40B4-BE49-F238E27FC236}">
                <a16:creationId xmlns:a16="http://schemas.microsoft.com/office/drawing/2014/main" id="{2799C205-9243-AD31-5985-9670D9C4B5DE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2674999" y="1874268"/>
            <a:ext cx="1667138" cy="565816"/>
          </a:xfrm>
          <a:prstGeom prst="bentConnector3">
            <a:avLst>
              <a:gd name="adj1" fmla="val 100606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8" name="图形 17" descr="数据库 纯色填充">
            <a:extLst>
              <a:ext uri="{FF2B5EF4-FFF2-40B4-BE49-F238E27FC236}">
                <a16:creationId xmlns:a16="http://schemas.microsoft.com/office/drawing/2014/main" id="{0DE137B8-A098-155F-38E9-981C26D4B4D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91476" y="866407"/>
            <a:ext cx="914400" cy="914400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34A2CD19-93A7-D356-8403-82BF1CDC6F3A}"/>
              </a:ext>
            </a:extLst>
          </p:cNvPr>
          <p:cNvSpPr txBox="1"/>
          <p:nvPr/>
        </p:nvSpPr>
        <p:spPr>
          <a:xfrm>
            <a:off x="3917774" y="641595"/>
            <a:ext cx="788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先验</a:t>
            </a:r>
          </a:p>
        </p:txBody>
      </p:sp>
      <p:cxnSp>
        <p:nvCxnSpPr>
          <p:cNvPr id="21" name="连接符: 肘形 20">
            <a:extLst>
              <a:ext uri="{FF2B5EF4-FFF2-40B4-BE49-F238E27FC236}">
                <a16:creationId xmlns:a16="http://schemas.microsoft.com/office/drawing/2014/main" id="{E52A9C7C-2FAF-FD44-6527-705A3A182191}"/>
              </a:ext>
            </a:extLst>
          </p:cNvPr>
          <p:cNvCxnSpPr>
            <a:cxnSpLocks/>
          </p:cNvCxnSpPr>
          <p:nvPr/>
        </p:nvCxnSpPr>
        <p:spPr>
          <a:xfrm rot="5400000">
            <a:off x="3152618" y="1928786"/>
            <a:ext cx="1314767" cy="1018808"/>
          </a:xfrm>
          <a:prstGeom prst="bentConnector3">
            <a:avLst>
              <a:gd name="adj1" fmla="val 99952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11B693ED-050A-71EF-F08C-5559B158E3F1}"/>
              </a:ext>
            </a:extLst>
          </p:cNvPr>
          <p:cNvSpPr txBox="1"/>
          <p:nvPr/>
        </p:nvSpPr>
        <p:spPr>
          <a:xfrm>
            <a:off x="4329506" y="2253524"/>
            <a:ext cx="5136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Q+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14C27359-162A-B8A8-C56A-A5D4704D2E3D}"/>
              </a:ext>
            </a:extLst>
          </p:cNvPr>
          <p:cNvCxnSpPr/>
          <p:nvPr/>
        </p:nvCxnSpPr>
        <p:spPr>
          <a:xfrm>
            <a:off x="3300597" y="3192822"/>
            <a:ext cx="259501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1DE6B068-7A2C-397F-D2E5-70A600F84941}"/>
              </a:ext>
            </a:extLst>
          </p:cNvPr>
          <p:cNvSpPr/>
          <p:nvPr/>
        </p:nvSpPr>
        <p:spPr>
          <a:xfrm>
            <a:off x="5905707" y="2357449"/>
            <a:ext cx="308168" cy="154769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规划</a:t>
            </a: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717F8497-5D74-CD4F-A33A-7EF3E2CA1D7F}"/>
              </a:ext>
            </a:extLst>
          </p:cNvPr>
          <p:cNvSpPr/>
          <p:nvPr/>
        </p:nvSpPr>
        <p:spPr>
          <a:xfrm>
            <a:off x="6272816" y="2357449"/>
            <a:ext cx="308168" cy="154769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调度</a:t>
            </a:r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A48533B8-D231-2C82-BE05-B218A9208743}"/>
              </a:ext>
            </a:extLst>
          </p:cNvPr>
          <p:cNvSpPr/>
          <p:nvPr/>
        </p:nvSpPr>
        <p:spPr>
          <a:xfrm>
            <a:off x="6639925" y="2357449"/>
            <a:ext cx="308168" cy="154769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执行</a:t>
            </a:r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A303BD4C-86F0-5704-BBE0-2693D25D61AD}"/>
              </a:ext>
            </a:extLst>
          </p:cNvPr>
          <p:cNvSpPr/>
          <p:nvPr/>
        </p:nvSpPr>
        <p:spPr>
          <a:xfrm>
            <a:off x="7007034" y="2357449"/>
            <a:ext cx="308168" cy="154769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反馈</a:t>
            </a:r>
          </a:p>
        </p:txBody>
      </p:sp>
      <p:pic>
        <p:nvPicPr>
          <p:cNvPr id="39" name="图形 38" descr="箭头循环 纯色填充">
            <a:extLst>
              <a:ext uri="{FF2B5EF4-FFF2-40B4-BE49-F238E27FC236}">
                <a16:creationId xmlns:a16="http://schemas.microsoft.com/office/drawing/2014/main" id="{D3D8CF79-B41A-699F-56E1-509DC04105B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23784" y="1554102"/>
            <a:ext cx="914400" cy="914400"/>
          </a:xfrm>
          <a:prstGeom prst="rect">
            <a:avLst/>
          </a:prstGeom>
        </p:spPr>
      </p:pic>
      <p:cxnSp>
        <p:nvCxnSpPr>
          <p:cNvPr id="49" name="连接符: 肘形 48">
            <a:extLst>
              <a:ext uri="{FF2B5EF4-FFF2-40B4-BE49-F238E27FC236}">
                <a16:creationId xmlns:a16="http://schemas.microsoft.com/office/drawing/2014/main" id="{05188DC3-5B02-9705-3610-6E2D4AFE3695}"/>
              </a:ext>
            </a:extLst>
          </p:cNvPr>
          <p:cNvCxnSpPr>
            <a:cxnSpLocks/>
          </p:cNvCxnSpPr>
          <p:nvPr/>
        </p:nvCxnSpPr>
        <p:spPr>
          <a:xfrm rot="10800000" flipV="1">
            <a:off x="777999" y="4031440"/>
            <a:ext cx="5861929" cy="1136687"/>
          </a:xfrm>
          <a:prstGeom prst="bentConnector3">
            <a:avLst>
              <a:gd name="adj1" fmla="val 15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直接箭头连接符 54">
            <a:extLst>
              <a:ext uri="{FF2B5EF4-FFF2-40B4-BE49-F238E27FC236}">
                <a16:creationId xmlns:a16="http://schemas.microsoft.com/office/drawing/2014/main" id="{FAD21537-E99D-35B9-9C1F-FD7ECFE4B000}"/>
              </a:ext>
            </a:extLst>
          </p:cNvPr>
          <p:cNvCxnSpPr>
            <a:cxnSpLocks/>
          </p:cNvCxnSpPr>
          <p:nvPr/>
        </p:nvCxnSpPr>
        <p:spPr>
          <a:xfrm flipV="1">
            <a:off x="777998" y="3627288"/>
            <a:ext cx="0" cy="15408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6" name="文本框 55">
            <a:extLst>
              <a:ext uri="{FF2B5EF4-FFF2-40B4-BE49-F238E27FC236}">
                <a16:creationId xmlns:a16="http://schemas.microsoft.com/office/drawing/2014/main" id="{019CEED7-8029-3DF9-C541-F054581D15C2}"/>
              </a:ext>
            </a:extLst>
          </p:cNvPr>
          <p:cNvSpPr txBox="1"/>
          <p:nvPr/>
        </p:nvSpPr>
        <p:spPr>
          <a:xfrm>
            <a:off x="3300597" y="5187791"/>
            <a:ext cx="11265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22830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B55417-BA58-3B0D-5A62-3AC556234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config.py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441AF47-7DBD-5802-4C69-0049A3E285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应用配置，读取环境变量</a:t>
            </a:r>
            <a:endParaRPr lang="en-US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/>
            <a:r>
              <a:rPr lang="zh-CN" altLang="en-US" sz="1600" dirty="0">
                <a:latin typeface="黑体" panose="02010609060101010101" pitchFamily="49" charset="-122"/>
                <a:ea typeface="黑体" panose="02010609060101010101" pitchFamily="49" charset="-122"/>
              </a:rPr>
              <a:t>大模型</a:t>
            </a:r>
            <a:r>
              <a:rPr lang="en-US" altLang="zh-CN" sz="16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API</a:t>
            </a:r>
          </a:p>
          <a:p>
            <a:pPr lvl="1"/>
            <a:r>
              <a:rPr lang="en-US" altLang="zh-CN" sz="16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PubMed</a:t>
            </a:r>
          </a:p>
          <a:p>
            <a:pPr lvl="1"/>
            <a:r>
              <a:rPr lang="en-US" altLang="zh-CN" sz="16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App</a:t>
            </a:r>
            <a:r>
              <a:rPr lang="zh-CN" altLang="en-US" sz="1600" dirty="0">
                <a:latin typeface="黑体" panose="02010609060101010101" pitchFamily="49" charset="-122"/>
                <a:ea typeface="黑体" panose="02010609060101010101" pitchFamily="49" charset="-122"/>
              </a:rPr>
              <a:t>信息</a:t>
            </a:r>
            <a:r>
              <a:rPr lang="en-US" altLang="zh-CN" sz="1600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en-US" altLang="zh-CN" sz="1600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port,log_level</a:t>
            </a:r>
            <a:r>
              <a:rPr lang="en-US" altLang="zh-CN" sz="1600" dirty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</a:p>
          <a:p>
            <a:pPr lvl="1"/>
            <a:r>
              <a:rPr lang="zh-CN" altLang="en-US" sz="1600" dirty="0">
                <a:latin typeface="黑体" panose="02010609060101010101" pitchFamily="49" charset="-122"/>
                <a:ea typeface="黑体" panose="02010609060101010101" pitchFamily="49" charset="-122"/>
              </a:rPr>
              <a:t>数据路径</a:t>
            </a:r>
          </a:p>
        </p:txBody>
      </p:sp>
    </p:spTree>
    <p:extLst>
      <p:ext uri="{BB962C8B-B14F-4D97-AF65-F5344CB8AC3E}">
        <p14:creationId xmlns:p14="http://schemas.microsoft.com/office/powerpoint/2010/main" val="41545545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59375E-54FB-F0AA-2552-1D9A6F3FA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main.py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20BB6D4-C3AF-5AFD-6C19-159C42E711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后端使用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uvicorn.run(</a:t>
            </a:r>
            <a:b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"backend.api.server:app",</a:t>
            </a:r>
            <a:b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host=config.APP_HOST,</a:t>
            </a:r>
            <a:b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port=config.APP_PORT,</a:t>
            </a:r>
            <a:b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log_level=config.LOG_LEVEL.lower(),</a:t>
            </a:r>
            <a:b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reload=False,</a:t>
            </a:r>
            <a:b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457200" lvl="1" indent="0">
              <a:buNone/>
            </a:pP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58552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675D2D-2F83-A932-0D24-8FFAE6FF8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backend.api.server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9E2E0E2-7A8D-0C8D-F91F-5A16704215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初始化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确保数据目录存在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config.ensure_dirs()</a:t>
            </a:r>
          </a:p>
          <a:p>
            <a:pPr lvl="1"/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C7DA6C48-948E-549A-1A23-805D976041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6337" y="2809843"/>
            <a:ext cx="4083260" cy="1238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1955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C9BD4F-EA4B-B54A-9359-1237E8F14E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5E1054-5E62-6149-BD56-F5E43A1DF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backend.api.server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DA9A967-F103-B910-3EF8-7E244CA6C3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初始化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初始化数据库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init_db()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初始化</a:t>
            </a:r>
            <a:r>
              <a:rPr lang="zh-CN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Conversation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zh-CN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Message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zh-CN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ResearchRecord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三张表</a:t>
            </a:r>
            <a:endParaRPr lang="zh-CN" altLang="zh-CN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/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051179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BA14FF-48A9-842E-D8BC-1965D117F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649979-CB66-66F6-348F-EEE0FAB2A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backend.api.server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2E252A4-4C62-2396-74CD-CA13A2FB8A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后端接口</a:t>
            </a:r>
          </a:p>
        </p:txBody>
      </p:sp>
    </p:spTree>
    <p:extLst>
      <p:ext uri="{BB962C8B-B14F-4D97-AF65-F5344CB8AC3E}">
        <p14:creationId xmlns:p14="http://schemas.microsoft.com/office/powerpoint/2010/main" val="31403765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04FBD1-86AB-8613-0064-C050F80E0F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5EA3CD-F0D9-E4EA-58EF-D87F13790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backend.api.server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2A631E-2F2D-D748-DEAD-9E9B58BEC9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后端接口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/>
            <a:r>
              <a:rPr lang="zh-CN" altLang="zh-CN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"/api/health"</a:t>
            </a:r>
          </a:p>
          <a:p>
            <a:pPr lvl="1"/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175477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76F2A7-D132-85D8-1F6D-733F7E6031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85AAC2-D913-FBEA-8CF2-631038C0F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backend.api.server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A85075A-F855-914F-70FE-4B223EC6AC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904992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后端接口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/>
            <a:r>
              <a:rPr lang="zh-CN" altLang="zh-CN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"/api/research"</a:t>
            </a:r>
          </a:p>
          <a:p>
            <a:pPr marL="457200" lvl="1" indent="0">
              <a:buNone/>
            </a:pP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04EFDA3-01BB-0F86-08CB-FB6EE34AEB2C}"/>
              </a:ext>
            </a:extLst>
          </p:cNvPr>
          <p:cNvSpPr txBox="1"/>
          <p:nvPr/>
        </p:nvSpPr>
        <p:spPr>
          <a:xfrm>
            <a:off x="158691" y="3825379"/>
            <a:ext cx="20476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1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request: ResearchRequest</a:t>
            </a: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2E3AB65D-0FB3-2588-98DA-96CC672655BC}"/>
              </a:ext>
            </a:extLst>
          </p:cNvPr>
          <p:cNvCxnSpPr/>
          <p:nvPr/>
        </p:nvCxnSpPr>
        <p:spPr>
          <a:xfrm>
            <a:off x="2130805" y="3988965"/>
            <a:ext cx="28942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1F017413-DEB2-CA58-7FAC-28648533A2CB}"/>
              </a:ext>
            </a:extLst>
          </p:cNvPr>
          <p:cNvSpPr txBox="1"/>
          <p:nvPr/>
        </p:nvSpPr>
        <p:spPr>
          <a:xfrm>
            <a:off x="1510020" y="4266999"/>
            <a:ext cx="3816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db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1974C387-B992-139F-EBFA-1174B77154DD}"/>
              </a:ext>
            </a:extLst>
          </p:cNvPr>
          <p:cNvCxnSpPr/>
          <p:nvPr/>
        </p:nvCxnSpPr>
        <p:spPr>
          <a:xfrm flipV="1">
            <a:off x="2235666" y="3988965"/>
            <a:ext cx="0" cy="43192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流程图: 决策 14">
            <a:extLst>
              <a:ext uri="{FF2B5EF4-FFF2-40B4-BE49-F238E27FC236}">
                <a16:creationId xmlns:a16="http://schemas.microsoft.com/office/drawing/2014/main" id="{C7942E4B-344A-8772-16B9-77DD74D6FC4C}"/>
              </a:ext>
            </a:extLst>
          </p:cNvPr>
          <p:cNvSpPr/>
          <p:nvPr/>
        </p:nvSpPr>
        <p:spPr>
          <a:xfrm>
            <a:off x="2449587" y="3835076"/>
            <a:ext cx="864066" cy="307777"/>
          </a:xfrm>
          <a:prstGeom prst="flowChartDecision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1062C66-F2CC-D280-3395-7C4B3B3ED7B4}"/>
              </a:ext>
            </a:extLst>
          </p:cNvPr>
          <p:cNvSpPr txBox="1"/>
          <p:nvPr/>
        </p:nvSpPr>
        <p:spPr>
          <a:xfrm>
            <a:off x="2457978" y="3527299"/>
            <a:ext cx="10150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conv_id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9" name="连接符: 肘形 18">
            <a:extLst>
              <a:ext uri="{FF2B5EF4-FFF2-40B4-BE49-F238E27FC236}">
                <a16:creationId xmlns:a16="http://schemas.microsoft.com/office/drawing/2014/main" id="{E881866B-8372-4BE2-BBBF-087632A0F825}"/>
              </a:ext>
            </a:extLst>
          </p:cNvPr>
          <p:cNvCxnSpPr>
            <a:cxnSpLocks/>
            <a:stCxn id="15" idx="3"/>
          </p:cNvCxnSpPr>
          <p:nvPr/>
        </p:nvCxnSpPr>
        <p:spPr>
          <a:xfrm>
            <a:off x="3313653" y="3988965"/>
            <a:ext cx="1275125" cy="1166070"/>
          </a:xfrm>
          <a:prstGeom prst="bentConnector3">
            <a:avLst>
              <a:gd name="adj1" fmla="val 16118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连接符: 肘形 21">
            <a:extLst>
              <a:ext uri="{FF2B5EF4-FFF2-40B4-BE49-F238E27FC236}">
                <a16:creationId xmlns:a16="http://schemas.microsoft.com/office/drawing/2014/main" id="{F9859621-6921-F9B8-DE48-4BB4082754CF}"/>
              </a:ext>
            </a:extLst>
          </p:cNvPr>
          <p:cNvCxnSpPr>
            <a:cxnSpLocks/>
            <a:stCxn id="15" idx="3"/>
          </p:cNvCxnSpPr>
          <p:nvPr/>
        </p:nvCxnSpPr>
        <p:spPr>
          <a:xfrm flipV="1">
            <a:off x="3313653" y="2952924"/>
            <a:ext cx="1333848" cy="1036041"/>
          </a:xfrm>
          <a:prstGeom prst="bentConnector3">
            <a:avLst>
              <a:gd name="adj1" fmla="val 15723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文本框 27">
            <a:extLst>
              <a:ext uri="{FF2B5EF4-FFF2-40B4-BE49-F238E27FC236}">
                <a16:creationId xmlns:a16="http://schemas.microsoft.com/office/drawing/2014/main" id="{CA2293A6-27AA-CE88-43EA-6C8CF0FDD735}"/>
              </a:ext>
            </a:extLst>
          </p:cNvPr>
          <p:cNvSpPr txBox="1"/>
          <p:nvPr/>
        </p:nvSpPr>
        <p:spPr>
          <a:xfrm>
            <a:off x="3896686" y="2669006"/>
            <a:ext cx="3020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04A7E50C-7E39-8C57-A140-57491C3CD32C}"/>
              </a:ext>
            </a:extLst>
          </p:cNvPr>
          <p:cNvSpPr txBox="1"/>
          <p:nvPr/>
        </p:nvSpPr>
        <p:spPr>
          <a:xfrm>
            <a:off x="3896686" y="4847258"/>
            <a:ext cx="3020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EAACF695-62D1-9146-9A6B-DB8E0AE09A83}"/>
              </a:ext>
            </a:extLst>
          </p:cNvPr>
          <p:cNvSpPr txBox="1"/>
          <p:nvPr/>
        </p:nvSpPr>
        <p:spPr>
          <a:xfrm>
            <a:off x="4588778" y="4970369"/>
            <a:ext cx="449615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zh-CN" sz="1400" dirty="0">
                <a:solidFill>
                  <a:srgbClr val="08080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conv = Conversation(title=request.query[:</a:t>
            </a:r>
            <a:r>
              <a:rPr lang="zh-CN" altLang="zh-CN" sz="1400" dirty="0">
                <a:solidFill>
                  <a:srgbClr val="1750E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80</a:t>
            </a:r>
            <a:r>
              <a:rPr lang="zh-CN" altLang="zh-CN" sz="1400" dirty="0">
                <a:solidFill>
                  <a:srgbClr val="08080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])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7DAC07FE-B673-C127-C7FB-A2A57E517617}"/>
              </a:ext>
            </a:extLst>
          </p:cNvPr>
          <p:cNvSpPr txBox="1"/>
          <p:nvPr/>
        </p:nvSpPr>
        <p:spPr>
          <a:xfrm>
            <a:off x="4588778" y="2768258"/>
            <a:ext cx="609669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zh-CN" sz="1400" dirty="0">
                <a:solidFill>
                  <a:srgbClr val="08080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conv = db.query(Conversation).filter_by(id=conv_id).first()</a:t>
            </a:r>
          </a:p>
        </p:txBody>
      </p: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B548C03A-122F-65AE-E6D2-B85CB9E11212}"/>
              </a:ext>
            </a:extLst>
          </p:cNvPr>
          <p:cNvCxnSpPr>
            <a:cxnSpLocks/>
          </p:cNvCxnSpPr>
          <p:nvPr/>
        </p:nvCxnSpPr>
        <p:spPr>
          <a:xfrm flipH="1">
            <a:off x="1891717" y="4420888"/>
            <a:ext cx="34394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FAB3CD96-83DE-0C7A-F014-6A795AAA35A3}"/>
              </a:ext>
            </a:extLst>
          </p:cNvPr>
          <p:cNvCxnSpPr/>
          <p:nvPr/>
        </p:nvCxnSpPr>
        <p:spPr>
          <a:xfrm>
            <a:off x="8514826" y="4133156"/>
            <a:ext cx="734036" cy="96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9248DB02-1D15-E8FF-B204-C7B2E804EEFB}"/>
              </a:ext>
            </a:extLst>
          </p:cNvPr>
          <p:cNvCxnSpPr/>
          <p:nvPr/>
        </p:nvCxnSpPr>
        <p:spPr>
          <a:xfrm flipV="1">
            <a:off x="8514826" y="3076035"/>
            <a:ext cx="0" cy="105712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613DC273-9B1D-C045-D08E-AA475BA15BBD}"/>
              </a:ext>
            </a:extLst>
          </p:cNvPr>
          <p:cNvCxnSpPr/>
          <p:nvPr/>
        </p:nvCxnSpPr>
        <p:spPr>
          <a:xfrm>
            <a:off x="8514826" y="4133156"/>
            <a:ext cx="0" cy="106251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文本框 47">
            <a:extLst>
              <a:ext uri="{FF2B5EF4-FFF2-40B4-BE49-F238E27FC236}">
                <a16:creationId xmlns:a16="http://schemas.microsoft.com/office/drawing/2014/main" id="{4EA3A7E8-5DC8-5F95-1356-B48C8CCDBBD7}"/>
              </a:ext>
            </a:extLst>
          </p:cNvPr>
          <p:cNvSpPr txBox="1"/>
          <p:nvPr/>
        </p:nvSpPr>
        <p:spPr>
          <a:xfrm>
            <a:off x="9218452" y="3953338"/>
            <a:ext cx="27190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800" dirty="0">
                <a:solidFill>
                  <a:srgbClr val="08080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Message</a:t>
            </a:r>
            <a:r>
              <a:rPr lang="en-US" altLang="zh-CN" sz="1800" dirty="0">
                <a:solidFill>
                  <a:srgbClr val="08080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ResearchRecord</a:t>
            </a:r>
          </a:p>
        </p:txBody>
      </p:sp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6AC246D3-AAF7-2EC0-F006-9AD79101DC4A}"/>
              </a:ext>
            </a:extLst>
          </p:cNvPr>
          <p:cNvCxnSpPr/>
          <p:nvPr/>
        </p:nvCxnSpPr>
        <p:spPr>
          <a:xfrm>
            <a:off x="11937533" y="1430323"/>
            <a:ext cx="29362" cy="5222147"/>
          </a:xfrm>
          <a:prstGeom prst="line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文本框 50">
            <a:extLst>
              <a:ext uri="{FF2B5EF4-FFF2-40B4-BE49-F238E27FC236}">
                <a16:creationId xmlns:a16="http://schemas.microsoft.com/office/drawing/2014/main" id="{4FC0E561-C9A8-A777-8D22-FA831C02D5EA}"/>
              </a:ext>
            </a:extLst>
          </p:cNvPr>
          <p:cNvSpPr txBox="1"/>
          <p:nvPr/>
        </p:nvSpPr>
        <p:spPr>
          <a:xfrm>
            <a:off x="4437775" y="5736330"/>
            <a:ext cx="25460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落库记录请求</a:t>
            </a:r>
          </a:p>
        </p:txBody>
      </p:sp>
    </p:spTree>
    <p:extLst>
      <p:ext uri="{BB962C8B-B14F-4D97-AF65-F5344CB8AC3E}">
        <p14:creationId xmlns:p14="http://schemas.microsoft.com/office/powerpoint/2010/main" val="10555761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E30D8A-F40A-9238-C4B5-F3B0EC85C5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D37A57-6D1C-E215-3347-CFCB062F40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backend.api.server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43E09C-5503-B600-8537-2B2C72F235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后端接口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/>
            <a:r>
              <a:rPr lang="zh-CN" altLang="zh-CN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zh-CN" altLang="zh-CN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/api/</a:t>
            </a:r>
            <a:r>
              <a:rPr lang="en-US" altLang="zh-CN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research</a:t>
            </a:r>
            <a:r>
              <a:rPr lang="zh-CN" altLang="zh-CN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endParaRPr lang="en-US" altLang="zh-CN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2"/>
            <a:r>
              <a:rPr lang="en-US" altLang="zh-CN" dirty="0" err="1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event_stream</a:t>
            </a:r>
            <a:r>
              <a:rPr lang="en-US" altLang="zh-CN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()</a:t>
            </a:r>
            <a:endParaRPr lang="zh-CN" altLang="zh-CN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/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D263750-67CB-FEDD-5552-BC62AC0202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273312"/>
            <a:ext cx="3892750" cy="101605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7D7FC8E4-D0E5-AE75-52B3-B08F75FF63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4717623"/>
            <a:ext cx="5372376" cy="711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77350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6CB686-6F39-1387-CF62-F5196FA06B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4A497A-2890-7B15-B23B-49F33ACD26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backend.api.server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3BD08C5-9BA2-1B50-27C8-2EE0F93CDD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后端接口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/>
            <a:r>
              <a:rPr lang="zh-CN" altLang="zh-CN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zh-CN" altLang="zh-CN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/api/</a:t>
            </a:r>
            <a:r>
              <a:rPr lang="en-US" altLang="zh-CN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research</a:t>
            </a:r>
            <a:r>
              <a:rPr lang="zh-CN" altLang="zh-CN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endParaRPr lang="en-US" altLang="zh-CN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2"/>
            <a:endParaRPr lang="zh-CN" altLang="en-US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48782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: 圆角 5">
            <a:extLst>
              <a:ext uri="{FF2B5EF4-FFF2-40B4-BE49-F238E27FC236}">
                <a16:creationId xmlns:a16="http://schemas.microsoft.com/office/drawing/2014/main" id="{1EF4B5A0-0E5A-6276-7ECD-522302DFE36C}"/>
              </a:ext>
            </a:extLst>
          </p:cNvPr>
          <p:cNvSpPr/>
          <p:nvPr/>
        </p:nvSpPr>
        <p:spPr>
          <a:xfrm>
            <a:off x="1591357" y="166713"/>
            <a:ext cx="1273087" cy="257649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execute_research</a:t>
            </a:r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8708A6F2-CFC8-6F83-5152-55DECE4EA9F7}"/>
              </a:ext>
            </a:extLst>
          </p:cNvPr>
          <p:cNvCxnSpPr>
            <a:cxnSpLocks/>
          </p:cNvCxnSpPr>
          <p:nvPr/>
        </p:nvCxnSpPr>
        <p:spPr>
          <a:xfrm>
            <a:off x="2227900" y="424362"/>
            <a:ext cx="0" cy="5254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3E73FC4D-BA49-7337-74FF-3E8BAFAAB0D0}"/>
              </a:ext>
            </a:extLst>
          </p:cNvPr>
          <p:cNvSpPr/>
          <p:nvPr/>
        </p:nvSpPr>
        <p:spPr>
          <a:xfrm>
            <a:off x="1591357" y="949764"/>
            <a:ext cx="1273085" cy="257649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zh-CN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_graph_run</a:t>
            </a:r>
            <a:r>
              <a:rPr lang="en-US" altLang="zh-CN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zh-CN" altLang="zh-CN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run_research</a:t>
            </a: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D6787EA8-AFD5-F02D-9A73-8281DDD53EC6}"/>
              </a:ext>
            </a:extLst>
          </p:cNvPr>
          <p:cNvCxnSpPr>
            <a:stCxn id="11" idx="2"/>
          </p:cNvCxnSpPr>
          <p:nvPr/>
        </p:nvCxnSpPr>
        <p:spPr>
          <a:xfrm>
            <a:off x="2227900" y="1207413"/>
            <a:ext cx="0" cy="24249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DFCB6BA8-6407-639A-FFF6-EF3C06789D14}"/>
              </a:ext>
            </a:extLst>
          </p:cNvPr>
          <p:cNvCxnSpPr>
            <a:cxnSpLocks/>
          </p:cNvCxnSpPr>
          <p:nvPr/>
        </p:nvCxnSpPr>
        <p:spPr>
          <a:xfrm flipV="1">
            <a:off x="702219" y="1439800"/>
            <a:ext cx="2940222" cy="1010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1422D711-1B0F-F82E-AC05-7F02DC1ACC12}"/>
              </a:ext>
            </a:extLst>
          </p:cNvPr>
          <p:cNvCxnSpPr/>
          <p:nvPr/>
        </p:nvCxnSpPr>
        <p:spPr>
          <a:xfrm>
            <a:off x="712323" y="1439801"/>
            <a:ext cx="0" cy="1919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C04B8FFB-7B41-F212-6E87-C5A8B7018C2D}"/>
              </a:ext>
            </a:extLst>
          </p:cNvPr>
          <p:cNvSpPr/>
          <p:nvPr/>
        </p:nvSpPr>
        <p:spPr>
          <a:xfrm>
            <a:off x="75779" y="1641878"/>
            <a:ext cx="1273087" cy="257649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tid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(str)</a:t>
            </a:r>
            <a:endParaRPr lang="zh-CN" altLang="zh-C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B19E3993-E39E-0334-53D6-F937DDF88701}"/>
              </a:ext>
            </a:extLst>
          </p:cNvPr>
          <p:cNvSpPr/>
          <p:nvPr/>
        </p:nvSpPr>
        <p:spPr>
          <a:xfrm>
            <a:off x="1434745" y="1641877"/>
            <a:ext cx="1429697" cy="257649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zh-CN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initial_state</a:t>
            </a:r>
            <a:r>
              <a:rPr lang="en-US" altLang="zh-CN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ResearchStat</a:t>
            </a:r>
            <a:r>
              <a:rPr lang="en-US" altLang="zh-CN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zh-CN" alt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类</a:t>
            </a:r>
            <a:r>
              <a:rPr lang="en-US" altLang="zh-CN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A834767E-E8C5-2A53-8230-40E6949B27D9}"/>
              </a:ext>
            </a:extLst>
          </p:cNvPr>
          <p:cNvCxnSpPr>
            <a:cxnSpLocks/>
          </p:cNvCxnSpPr>
          <p:nvPr/>
        </p:nvCxnSpPr>
        <p:spPr>
          <a:xfrm>
            <a:off x="2227899" y="1449905"/>
            <a:ext cx="0" cy="1919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78B01F21-B999-B67B-510B-CCF55C2F11C1}"/>
              </a:ext>
            </a:extLst>
          </p:cNvPr>
          <p:cNvSpPr/>
          <p:nvPr/>
        </p:nvSpPr>
        <p:spPr>
          <a:xfrm>
            <a:off x="2950322" y="1641877"/>
            <a:ext cx="1389290" cy="257649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 = get_graph()</a:t>
            </a:r>
          </a:p>
        </p:txBody>
      </p: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38A57705-793A-F2FB-5759-DE2804489D20}"/>
              </a:ext>
            </a:extLst>
          </p:cNvPr>
          <p:cNvCxnSpPr/>
          <p:nvPr/>
        </p:nvCxnSpPr>
        <p:spPr>
          <a:xfrm>
            <a:off x="3642441" y="1449905"/>
            <a:ext cx="0" cy="1818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D428C775-8C8F-13B8-A0F5-F9AFDED42134}"/>
              </a:ext>
            </a:extLst>
          </p:cNvPr>
          <p:cNvCxnSpPr>
            <a:stCxn id="29" idx="2"/>
          </p:cNvCxnSpPr>
          <p:nvPr/>
        </p:nvCxnSpPr>
        <p:spPr>
          <a:xfrm flipH="1">
            <a:off x="3642441" y="1899526"/>
            <a:ext cx="2526" cy="2172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F944C5ED-3009-BBC3-2FC0-CF5E4B153147}"/>
              </a:ext>
            </a:extLst>
          </p:cNvPr>
          <p:cNvSpPr/>
          <p:nvPr/>
        </p:nvSpPr>
        <p:spPr>
          <a:xfrm>
            <a:off x="2947796" y="2116760"/>
            <a:ext cx="1389290" cy="257649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_compiled_graph</a:t>
            </a: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1E098B21-72A6-546C-B931-6C0DF5E4FC66}"/>
              </a:ext>
            </a:extLst>
          </p:cNvPr>
          <p:cNvSpPr/>
          <p:nvPr/>
        </p:nvSpPr>
        <p:spPr>
          <a:xfrm>
            <a:off x="3356164" y="3150722"/>
            <a:ext cx="399098" cy="39909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064A423C-63F8-5FEF-6E57-8CA5FBB6AA69}"/>
              </a:ext>
            </a:extLst>
          </p:cNvPr>
          <p:cNvSpPr/>
          <p:nvPr/>
        </p:nvSpPr>
        <p:spPr>
          <a:xfrm>
            <a:off x="4340448" y="3150722"/>
            <a:ext cx="399098" cy="39909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椭圆 25">
            <a:extLst>
              <a:ext uri="{FF2B5EF4-FFF2-40B4-BE49-F238E27FC236}">
                <a16:creationId xmlns:a16="http://schemas.microsoft.com/office/drawing/2014/main" id="{D6F675BC-C572-ADA4-F9EB-AC6BFCDDA745}"/>
              </a:ext>
            </a:extLst>
          </p:cNvPr>
          <p:cNvSpPr/>
          <p:nvPr/>
        </p:nvSpPr>
        <p:spPr>
          <a:xfrm>
            <a:off x="6306520" y="4042386"/>
            <a:ext cx="399098" cy="39909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椭圆 27">
            <a:extLst>
              <a:ext uri="{FF2B5EF4-FFF2-40B4-BE49-F238E27FC236}">
                <a16:creationId xmlns:a16="http://schemas.microsoft.com/office/drawing/2014/main" id="{78991D6F-320E-CC61-8626-ECF5E9F9BFF1}"/>
              </a:ext>
            </a:extLst>
          </p:cNvPr>
          <p:cNvSpPr/>
          <p:nvPr/>
        </p:nvSpPr>
        <p:spPr>
          <a:xfrm>
            <a:off x="7268063" y="4441484"/>
            <a:ext cx="399098" cy="39909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椭圆 31">
            <a:extLst>
              <a:ext uri="{FF2B5EF4-FFF2-40B4-BE49-F238E27FC236}">
                <a16:creationId xmlns:a16="http://schemas.microsoft.com/office/drawing/2014/main" id="{8B93F770-5143-26E2-6C72-67D12AFB1112}"/>
              </a:ext>
            </a:extLst>
          </p:cNvPr>
          <p:cNvSpPr/>
          <p:nvPr/>
        </p:nvSpPr>
        <p:spPr>
          <a:xfrm>
            <a:off x="8359263" y="4441484"/>
            <a:ext cx="399098" cy="39909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椭圆 33">
            <a:extLst>
              <a:ext uri="{FF2B5EF4-FFF2-40B4-BE49-F238E27FC236}">
                <a16:creationId xmlns:a16="http://schemas.microsoft.com/office/drawing/2014/main" id="{59DD64CA-00CE-F260-ECFC-DF46A833F3F6}"/>
              </a:ext>
            </a:extLst>
          </p:cNvPr>
          <p:cNvSpPr/>
          <p:nvPr/>
        </p:nvSpPr>
        <p:spPr>
          <a:xfrm>
            <a:off x="9335134" y="3196279"/>
            <a:ext cx="399098" cy="39909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3B46563C-AC17-6171-A955-89A556325BE8}"/>
              </a:ext>
            </a:extLst>
          </p:cNvPr>
          <p:cNvSpPr/>
          <p:nvPr/>
        </p:nvSpPr>
        <p:spPr>
          <a:xfrm>
            <a:off x="5299478" y="3643288"/>
            <a:ext cx="399098" cy="39909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05159BF7-466A-1F3F-DA33-D0775E5CBD69}"/>
              </a:ext>
            </a:extLst>
          </p:cNvPr>
          <p:cNvCxnSpPr>
            <a:cxnSpLocks/>
            <a:endCxn id="3" idx="2"/>
          </p:cNvCxnSpPr>
          <p:nvPr/>
        </p:nvCxnSpPr>
        <p:spPr>
          <a:xfrm flipV="1">
            <a:off x="2909914" y="3350271"/>
            <a:ext cx="446250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F89DA15A-ACDB-D1BF-295E-FF2CBDB2DA48}"/>
              </a:ext>
            </a:extLst>
          </p:cNvPr>
          <p:cNvCxnSpPr>
            <a:stCxn id="3" idx="6"/>
            <a:endCxn id="22" idx="2"/>
          </p:cNvCxnSpPr>
          <p:nvPr/>
        </p:nvCxnSpPr>
        <p:spPr>
          <a:xfrm>
            <a:off x="3755262" y="3350271"/>
            <a:ext cx="58518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820B7AD2-78CC-53D3-B33B-FD1547DE37A0}"/>
              </a:ext>
            </a:extLst>
          </p:cNvPr>
          <p:cNvCxnSpPr>
            <a:cxnSpLocks/>
            <a:stCxn id="22" idx="6"/>
            <a:endCxn id="34" idx="2"/>
          </p:cNvCxnSpPr>
          <p:nvPr/>
        </p:nvCxnSpPr>
        <p:spPr>
          <a:xfrm>
            <a:off x="4739546" y="3350271"/>
            <a:ext cx="4595588" cy="455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7" name="文本框 46">
            <a:extLst>
              <a:ext uri="{FF2B5EF4-FFF2-40B4-BE49-F238E27FC236}">
                <a16:creationId xmlns:a16="http://schemas.microsoft.com/office/drawing/2014/main" id="{E4251425-22C8-E566-B32D-18CE09177DFF}"/>
              </a:ext>
            </a:extLst>
          </p:cNvPr>
          <p:cNvSpPr txBox="1"/>
          <p:nvPr/>
        </p:nvSpPr>
        <p:spPr>
          <a:xfrm>
            <a:off x="6758615" y="3059668"/>
            <a:ext cx="2113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9C6E95B5-08AC-653C-952F-D148FB8C19DE}"/>
              </a:ext>
            </a:extLst>
          </p:cNvPr>
          <p:cNvCxnSpPr>
            <a:stCxn id="22" idx="6"/>
          </p:cNvCxnSpPr>
          <p:nvPr/>
        </p:nvCxnSpPr>
        <p:spPr>
          <a:xfrm>
            <a:off x="4739546" y="3350271"/>
            <a:ext cx="559932" cy="4487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0" name="文本框 49">
            <a:extLst>
              <a:ext uri="{FF2B5EF4-FFF2-40B4-BE49-F238E27FC236}">
                <a16:creationId xmlns:a16="http://schemas.microsoft.com/office/drawing/2014/main" id="{AA6B8D3B-E44E-BEB7-04CD-96A2A164D858}"/>
              </a:ext>
            </a:extLst>
          </p:cNvPr>
          <p:cNvSpPr txBox="1"/>
          <p:nvPr/>
        </p:nvSpPr>
        <p:spPr>
          <a:xfrm>
            <a:off x="4739546" y="3473505"/>
            <a:ext cx="191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E11E754C-B78B-78E9-B16F-AD9032D2BD2F}"/>
              </a:ext>
            </a:extLst>
          </p:cNvPr>
          <p:cNvCxnSpPr>
            <a:stCxn id="37" idx="6"/>
            <a:endCxn id="26" idx="2"/>
          </p:cNvCxnSpPr>
          <p:nvPr/>
        </p:nvCxnSpPr>
        <p:spPr>
          <a:xfrm>
            <a:off x="5698576" y="3842837"/>
            <a:ext cx="607944" cy="39909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连接符: 曲线 55">
            <a:extLst>
              <a:ext uri="{FF2B5EF4-FFF2-40B4-BE49-F238E27FC236}">
                <a16:creationId xmlns:a16="http://schemas.microsoft.com/office/drawing/2014/main" id="{C4BB600F-7520-452D-2AB6-76DEA05CE728}"/>
              </a:ext>
            </a:extLst>
          </p:cNvPr>
          <p:cNvCxnSpPr>
            <a:stCxn id="37" idx="3"/>
            <a:endCxn id="22" idx="3"/>
          </p:cNvCxnSpPr>
          <p:nvPr/>
        </p:nvCxnSpPr>
        <p:spPr>
          <a:xfrm rot="5400000" flipH="1">
            <a:off x="4632127" y="3258141"/>
            <a:ext cx="492566" cy="959030"/>
          </a:xfrm>
          <a:prstGeom prst="curvedConnector3">
            <a:avLst>
              <a:gd name="adj1" fmla="val -58276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8" name="文本框 57">
            <a:extLst>
              <a:ext uri="{FF2B5EF4-FFF2-40B4-BE49-F238E27FC236}">
                <a16:creationId xmlns:a16="http://schemas.microsoft.com/office/drawing/2014/main" id="{675E897A-3916-C2F7-ACD6-E9C1CF331BF0}"/>
              </a:ext>
            </a:extLst>
          </p:cNvPr>
          <p:cNvSpPr txBox="1"/>
          <p:nvPr/>
        </p:nvSpPr>
        <p:spPr>
          <a:xfrm>
            <a:off x="4398895" y="4075940"/>
            <a:ext cx="2113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789995C0-5B4F-F471-0E36-710A67DA6908}"/>
              </a:ext>
            </a:extLst>
          </p:cNvPr>
          <p:cNvSpPr txBox="1"/>
          <p:nvPr/>
        </p:nvSpPr>
        <p:spPr>
          <a:xfrm>
            <a:off x="5735970" y="3972378"/>
            <a:ext cx="191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2" name="直接箭头连接符 61">
            <a:extLst>
              <a:ext uri="{FF2B5EF4-FFF2-40B4-BE49-F238E27FC236}">
                <a16:creationId xmlns:a16="http://schemas.microsoft.com/office/drawing/2014/main" id="{576C959E-C10A-0EA1-7013-D2AB3D19CF5F}"/>
              </a:ext>
            </a:extLst>
          </p:cNvPr>
          <p:cNvCxnSpPr>
            <a:stCxn id="26" idx="6"/>
            <a:endCxn id="28" idx="2"/>
          </p:cNvCxnSpPr>
          <p:nvPr/>
        </p:nvCxnSpPr>
        <p:spPr>
          <a:xfrm>
            <a:off x="6705618" y="4241935"/>
            <a:ext cx="562445" cy="3990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5" name="文本框 64">
            <a:extLst>
              <a:ext uri="{FF2B5EF4-FFF2-40B4-BE49-F238E27FC236}">
                <a16:creationId xmlns:a16="http://schemas.microsoft.com/office/drawing/2014/main" id="{8C8BB4DD-4A4E-17CB-D087-3DCB5B2D2EEE}"/>
              </a:ext>
            </a:extLst>
          </p:cNvPr>
          <p:cNvSpPr txBox="1"/>
          <p:nvPr/>
        </p:nvSpPr>
        <p:spPr>
          <a:xfrm>
            <a:off x="6713193" y="4441484"/>
            <a:ext cx="191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9" name="直接箭头连接符 68">
            <a:extLst>
              <a:ext uri="{FF2B5EF4-FFF2-40B4-BE49-F238E27FC236}">
                <a16:creationId xmlns:a16="http://schemas.microsoft.com/office/drawing/2014/main" id="{CC3CC12C-4FDB-05AB-F91B-631BFC7233B0}"/>
              </a:ext>
            </a:extLst>
          </p:cNvPr>
          <p:cNvCxnSpPr>
            <a:cxnSpLocks/>
            <a:stCxn id="26" idx="6"/>
            <a:endCxn id="34" idx="2"/>
          </p:cNvCxnSpPr>
          <p:nvPr/>
        </p:nvCxnSpPr>
        <p:spPr>
          <a:xfrm flipV="1">
            <a:off x="6705618" y="3395828"/>
            <a:ext cx="2629516" cy="8461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1" name="文本框 70">
            <a:extLst>
              <a:ext uri="{FF2B5EF4-FFF2-40B4-BE49-F238E27FC236}">
                <a16:creationId xmlns:a16="http://schemas.microsoft.com/office/drawing/2014/main" id="{96062B7C-DB01-F8B2-6032-8105DA0ED3BE}"/>
              </a:ext>
            </a:extLst>
          </p:cNvPr>
          <p:cNvSpPr txBox="1"/>
          <p:nvPr/>
        </p:nvSpPr>
        <p:spPr>
          <a:xfrm>
            <a:off x="7467612" y="3634215"/>
            <a:ext cx="2113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4" name="直接箭头连接符 73">
            <a:extLst>
              <a:ext uri="{FF2B5EF4-FFF2-40B4-BE49-F238E27FC236}">
                <a16:creationId xmlns:a16="http://schemas.microsoft.com/office/drawing/2014/main" id="{7D9C37B9-5899-0BCD-36D5-932A86D8E820}"/>
              </a:ext>
            </a:extLst>
          </p:cNvPr>
          <p:cNvCxnSpPr>
            <a:stCxn id="28" idx="6"/>
            <a:endCxn id="32" idx="2"/>
          </p:cNvCxnSpPr>
          <p:nvPr/>
        </p:nvCxnSpPr>
        <p:spPr>
          <a:xfrm>
            <a:off x="7667161" y="4641033"/>
            <a:ext cx="69210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1" name="直接箭头连接符 80">
            <a:extLst>
              <a:ext uri="{FF2B5EF4-FFF2-40B4-BE49-F238E27FC236}">
                <a16:creationId xmlns:a16="http://schemas.microsoft.com/office/drawing/2014/main" id="{75D3194D-1043-CA75-FBA5-AF8E4AFFF009}"/>
              </a:ext>
            </a:extLst>
          </p:cNvPr>
          <p:cNvCxnSpPr>
            <a:stCxn id="32" idx="6"/>
            <a:endCxn id="34" idx="2"/>
          </p:cNvCxnSpPr>
          <p:nvPr/>
        </p:nvCxnSpPr>
        <p:spPr>
          <a:xfrm flipV="1">
            <a:off x="8758361" y="3395828"/>
            <a:ext cx="576773" cy="12452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5" name="矩形: 圆角 84">
            <a:extLst>
              <a:ext uri="{FF2B5EF4-FFF2-40B4-BE49-F238E27FC236}">
                <a16:creationId xmlns:a16="http://schemas.microsoft.com/office/drawing/2014/main" id="{1FE42D17-B325-FF81-400D-5B58C4DB6276}"/>
              </a:ext>
            </a:extLst>
          </p:cNvPr>
          <p:cNvSpPr/>
          <p:nvPr/>
        </p:nvSpPr>
        <p:spPr>
          <a:xfrm>
            <a:off x="2149593" y="3215856"/>
            <a:ext cx="757790" cy="25764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开始</a:t>
            </a:r>
          </a:p>
        </p:txBody>
      </p:sp>
      <p:sp>
        <p:nvSpPr>
          <p:cNvPr id="87" name="矩形: 圆角 86">
            <a:extLst>
              <a:ext uri="{FF2B5EF4-FFF2-40B4-BE49-F238E27FC236}">
                <a16:creationId xmlns:a16="http://schemas.microsoft.com/office/drawing/2014/main" id="{61407099-3BC1-2125-8933-33B28FBC4155}"/>
              </a:ext>
            </a:extLst>
          </p:cNvPr>
          <p:cNvSpPr/>
          <p:nvPr/>
        </p:nvSpPr>
        <p:spPr>
          <a:xfrm>
            <a:off x="10446537" y="3298151"/>
            <a:ext cx="757790" cy="25764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结束</a:t>
            </a:r>
          </a:p>
        </p:txBody>
      </p:sp>
      <p:cxnSp>
        <p:nvCxnSpPr>
          <p:cNvPr id="89" name="直接箭头连接符 88">
            <a:extLst>
              <a:ext uri="{FF2B5EF4-FFF2-40B4-BE49-F238E27FC236}">
                <a16:creationId xmlns:a16="http://schemas.microsoft.com/office/drawing/2014/main" id="{0F4C6B29-4021-2FF0-8374-EF62DA79A24F}"/>
              </a:ext>
            </a:extLst>
          </p:cNvPr>
          <p:cNvCxnSpPr>
            <a:stCxn id="34" idx="6"/>
            <a:endCxn id="87" idx="1"/>
          </p:cNvCxnSpPr>
          <p:nvPr/>
        </p:nvCxnSpPr>
        <p:spPr>
          <a:xfrm>
            <a:off x="9734232" y="3395828"/>
            <a:ext cx="712305" cy="311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74327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F6EA63-E602-EF7A-0164-385D46A5E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968D58-4269-DB19-3B47-F1F73E4D9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backend.api.server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9BD0207-87D7-B5BF-0CF5-ADD5C81A28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后端接口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/>
            <a:r>
              <a:rPr lang="zh-CN" altLang="zh-CN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zh-CN" altLang="zh-CN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/api/</a:t>
            </a:r>
            <a:r>
              <a:rPr lang="en-US" altLang="zh-CN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research</a:t>
            </a:r>
            <a:r>
              <a:rPr lang="zh-CN" altLang="zh-CN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endParaRPr lang="en-US" altLang="zh-CN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2"/>
            <a:r>
              <a:rPr lang="en-US" altLang="zh-CN" dirty="0" err="1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event_stream</a:t>
            </a:r>
            <a:r>
              <a:rPr lang="en-US" altLang="zh-CN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()</a:t>
            </a:r>
            <a:endParaRPr lang="zh-CN" altLang="zh-CN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/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598E31A-14A2-8C67-4E3C-55E2049ECA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273312"/>
            <a:ext cx="3892750" cy="101605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2636C9C9-720C-A1EF-AB88-E387F39725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4717623"/>
            <a:ext cx="5372376" cy="711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29312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A4A1CF-9C26-9BF9-2214-F714252BD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1C6EAD-D3A6-11CB-BEA5-87AD7E98F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backend.api.server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75A9D7E-2A19-980B-8CFB-B38D3C7CC7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后端接口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/>
            <a:r>
              <a:rPr lang="zh-CN" altLang="zh-CN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"/api/research/resume"</a:t>
            </a:r>
          </a:p>
          <a:p>
            <a:pPr lvl="1"/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385045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D8EFA7-F048-D0EA-C6C8-7AC4EDEE3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D38CFC-51B7-3ED3-079A-2F64C65648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backend.api.server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EB71D0E-CC76-194B-CC5D-3953DB9D54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后端接口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/>
            <a:r>
              <a:rPr lang="zh-CN" altLang="zh-CN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"/api/research/state/{thread_id}"</a:t>
            </a:r>
          </a:p>
          <a:p>
            <a:pPr lvl="2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查询指定线程当前状态</a:t>
            </a:r>
          </a:p>
        </p:txBody>
      </p:sp>
    </p:spTree>
    <p:extLst>
      <p:ext uri="{BB962C8B-B14F-4D97-AF65-F5344CB8AC3E}">
        <p14:creationId xmlns:p14="http://schemas.microsoft.com/office/powerpoint/2010/main" val="17333408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06A39F-03A0-10DC-C268-76B5585CE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A78901-84E2-552A-9169-B1315839D2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backend.api.server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0EEAD31-1B91-D6C9-F6D7-668936DF4B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后端接口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/>
            <a:r>
              <a:rPr lang="zh-CN" altLang="zh-CN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"/api/research/simple"</a:t>
            </a:r>
          </a:p>
          <a:p>
            <a:pPr lvl="2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非流式节点，返回完整结果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用于测试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910339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C0290E-3ED7-2E8A-F748-3B3B8FED67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2769EC-3404-7D69-58E4-C74098AE0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backend.api.server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1445CBA-7E16-97C1-9674-CA06B6C253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后端接口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/>
            <a:r>
              <a:rPr lang="zh-CN" altLang="zh-CN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"/api/conversations“</a:t>
            </a:r>
            <a:r>
              <a:rPr lang="en-US" altLang="zh-CN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(get)</a:t>
            </a:r>
          </a:p>
          <a:p>
            <a:pPr lvl="2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返回所有对话列表</a:t>
            </a:r>
            <a:endParaRPr lang="zh-CN" altLang="zh-CN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19337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A67B7E-DF24-1B63-6DB4-30AD6E8CE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19F2A7-3CA0-8967-FBCE-D88E8652DB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backend.api.server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C943D9-4334-3629-CFC5-F3F12C4EEB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后端接口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/>
            <a:r>
              <a:rPr lang="zh-CN" altLang="zh-CN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"/api/conversations“</a:t>
            </a:r>
            <a:r>
              <a:rPr lang="en-US" altLang="zh-CN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(post)</a:t>
            </a:r>
          </a:p>
          <a:p>
            <a:pPr lvl="2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创建新对话</a:t>
            </a:r>
            <a:endParaRPr lang="zh-CN" altLang="zh-CN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81767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62C9D2-83C3-E974-0DFB-EA72911B15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3DA454-C10C-30F1-401B-2C0742097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backend.api.server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8BFECDC-1ADD-F663-61E5-8D2D7473BC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后端接口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/>
            <a:r>
              <a:rPr lang="zh-CN" altLang="zh-CN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“/api/conversations/{conv_id}“</a:t>
            </a:r>
            <a:r>
              <a:rPr lang="en-US" altLang="zh-CN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(get)</a:t>
            </a:r>
          </a:p>
          <a:p>
            <a:pPr lvl="2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获取单个对话详情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三张表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/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2487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4C4B85-D55B-6E9D-431B-2AF5422F5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71DA56-CF90-19F9-CFFD-C3A5B506E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backend.api.server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96AE129-E713-5C11-E02B-52FBC78ED2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后端接口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/>
            <a:r>
              <a:rPr lang="zh-CN" altLang="zh-CN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“/api/conversations/{conv_id}“</a:t>
            </a:r>
            <a:r>
              <a:rPr lang="en-US" altLang="zh-CN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(delete)</a:t>
            </a:r>
          </a:p>
          <a:p>
            <a:pPr lvl="2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删除整个对话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删除对话及其关联的表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/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579345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80467A-86C7-C20C-CC90-7DFF55F63E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E58956-3D1C-36C8-AE68-D4B625528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backend.api.server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5A0AE0D-BC25-7073-23E1-702B42F63E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后端接口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/>
            <a:r>
              <a:rPr lang="zh-CN" altLang="zh-CN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“/api/conversations/{conv_id}</a:t>
            </a:r>
            <a:r>
              <a:rPr lang="zh-CN" altLang="en-US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”</a:t>
            </a:r>
            <a:r>
              <a:rPr lang="en-US" altLang="zh-CN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(patch)</a:t>
            </a:r>
          </a:p>
          <a:p>
            <a:pPr lvl="2"/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更新某个对话的标题</a:t>
            </a:r>
            <a:endParaRPr lang="zh-CN" altLang="zh-CN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/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167009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FA29C9-C610-8E1A-D0F0-BEC0D2FA43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429DED-6AAD-CADC-0407-D128C32B0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backend.api.server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9925045-9F15-8027-D3FE-F27C8E80E1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后端接口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/>
            <a:r>
              <a:rPr lang="zh-CN" altLang="zh-CN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"/api/conversations/{conv_id}/messages“</a:t>
            </a:r>
            <a:endParaRPr lang="en-US" altLang="zh-CN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获取某个对话的所有信息</a:t>
            </a:r>
            <a:endParaRPr lang="zh-CN" altLang="zh-CN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/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0854346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CH-20A5DFBBC4291D0CC51BB8AEAA48E23F255EA2D6D7707BF17C24A6EDAA20D94E" val="[{&quot;GradientColorId&quot;:&quot;&quot;,&quot;IsFree&quot;:true,&quot;IsGradient&quot;:false,&quot;ImagePath&quot;:&quot;&quot;,&quot;GradientColor&quot;:null,&quot;SimpleColor&quot;:&quot;#000000&quot;}]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785</TotalTime>
  <Words>591</Words>
  <Application>Microsoft Office PowerPoint</Application>
  <PresentationFormat>宽屏</PresentationFormat>
  <Paragraphs>119</Paragraphs>
  <Slides>22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28" baseType="lpstr">
      <vt:lpstr>等线</vt:lpstr>
      <vt:lpstr>等线 Light</vt:lpstr>
      <vt:lpstr>黑体</vt:lpstr>
      <vt:lpstr>Arial</vt:lpstr>
      <vt:lpstr>Times New Roman</vt:lpstr>
      <vt:lpstr>Office 主题​​</vt:lpstr>
      <vt:lpstr>Bioinformatics_Agent_Architecture</vt:lpstr>
      <vt:lpstr>PowerPoint 演示文稿</vt:lpstr>
      <vt:lpstr>config.py</vt:lpstr>
      <vt:lpstr>main.py</vt:lpstr>
      <vt:lpstr>backend.api.server.py</vt:lpstr>
      <vt:lpstr>backend.api.server.py</vt:lpstr>
      <vt:lpstr>backend.api.server.py</vt:lpstr>
      <vt:lpstr>backend.api.server.py</vt:lpstr>
      <vt:lpstr>backend.api.server.py</vt:lpstr>
      <vt:lpstr>backend.api.server.py</vt:lpstr>
      <vt:lpstr>backend.api.server.py</vt:lpstr>
      <vt:lpstr>PowerPoint 演示文稿</vt:lpstr>
      <vt:lpstr>backend.api.server.py</vt:lpstr>
      <vt:lpstr>backend.api.server.py</vt:lpstr>
      <vt:lpstr>backend.api.server.py</vt:lpstr>
      <vt:lpstr>backend.api.server.py</vt:lpstr>
      <vt:lpstr>backend.api.server.py</vt:lpstr>
      <vt:lpstr>backend.api.server.py</vt:lpstr>
      <vt:lpstr>backend.api.server.py</vt:lpstr>
      <vt:lpstr>backend.api.server.py</vt:lpstr>
      <vt:lpstr>backend.api.server.py</vt:lpstr>
      <vt:lpstr>backend.api.server.py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庭浩 夏</dc:creator>
  <cp:lastModifiedBy>庭浩 夏</cp:lastModifiedBy>
  <cp:revision>110</cp:revision>
  <dcterms:created xsi:type="dcterms:W3CDTF">2026-07-06T08:12:36Z</dcterms:created>
  <dcterms:modified xsi:type="dcterms:W3CDTF">2026-07-13T08:48:05Z</dcterms:modified>
</cp:coreProperties>
</file>